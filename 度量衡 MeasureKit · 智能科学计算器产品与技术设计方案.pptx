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6256000" cy="9144000" type="custom"/>
  <p:notesSz cx="16256000" cy="9144000"/>
  <p:embeddedFontLst>
    <p:embeddedFont>
      <p:font typeface="MiSans" charset="-122" pitchFamily="34"/>
      <p:regular r:id="rId11"/>
    </p:embeddedFont>
    <p:embeddedFont>
      <p:font typeface="得意黑" charset="-122" pitchFamily="34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right"/>
          <p:cNvSpPr/>
          <p:nvPr/>
        </p:nvSpPr>
        <p:spPr>
          <a:xfrm>
            <a:off x="9906000" y="0"/>
            <a:ext cx="6350000" cy="914400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3" name="panel-edge"/>
          <p:cNvSpPr/>
          <p:nvPr/>
        </p:nvSpPr>
        <p:spPr>
          <a:xfrm>
            <a:off x="9906000" y="0"/>
            <a:ext cx="63500" cy="91440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4" name="f1-cap"/>
          <p:cNvSpPr txBox="1"/>
          <p:nvPr/>
        </p:nvSpPr>
        <p:spPr>
          <a:xfrm>
            <a:off x="10541000" y="939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7F5EF">
                    <a:alpha val="50196"/>
                  </a:srgbClr>
                </a:solidFill>
                <a:latin typeface="MiSans"/>
                <a:ea typeface="MiSans"/>
              </a:rPr>
              <a:t>微积分 · 积分</a:t>
            </a:r>
            <a:endParaRPr lang="en-US" sz="1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1"/>
              <p:cNvSpPr txBox="1"/>
              <p:nvPr/>
            </p:nvSpPr>
            <p:spPr>
              <a:xfrm>
                <a:off x="10541000" y="1168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nary>
                      <m:naryPr>
                        <m:chr m:val="∫"/>
                        <m:limLoc m:val="subSup"/>
                        <m:ctrlPr>
                          <a:rPr lang="en-US" sz="2200" noProof="1">
                            <a:solidFill>
                              <a:srgbClr val="F7F5EF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a</m:t>
                        </m:r>
                      </m:sub>
                      <m:sup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b</m:t>
                        </m:r>
                      </m:sup>
                      <m:e/>
                    </m:nary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f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(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x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)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 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d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x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=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F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(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b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)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-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F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(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a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2200" noProof="1"/>
                  <a:t xml:space="preserve"> </a:t>
                </a:r>
                <a:endParaRPr lang="en-US" sz="2200" noProof="1"/>
              </a:p>
            </p:txBody>
          </p:sp>
        </mc:Choice>
        <mc:Fallback xmlns="">
          <p:sp>
            <p:nvSpPr>
              <p:cNvPr id="5" name="f1"/>
              <p:cNvSpPr txBox="1"/>
              <p:nvPr/>
            </p:nvSpPr>
            <p:spPr>
              <a:xfrm>
                <a:off x="10541000" y="1168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:r>
                  <a:rPr lang="en-US" sz="2200" noProof="1">
                    <a:solidFill>
                      <a:srgbClr val="F7F5EF"/>
                    </a:solidFill>
                    <a:latin typeface="MiSans"/>
                    <a:ea typeface="MiSans"/>
                  </a:rPr>
                  <a:t>\(\int_a^b f(x)\,\mathrm{d}x = F(b)-F(a)\)</a:t>
                </a:r>
                <a:endParaRPr lang="en-US" sz="2200" noProof="1"/>
              </a:p>
            </p:txBody>
          </p:sp>
        </mc:Fallback>
      </mc:AlternateContent>
      <p:sp>
        <p:nvSpPr>
          <p:cNvPr id="6" name="f2-cap"/>
          <p:cNvSpPr txBox="1"/>
          <p:nvPr/>
        </p:nvSpPr>
        <p:spPr>
          <a:xfrm>
            <a:off x="10541000" y="2336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7F5EF">
                    <a:alpha val="50196"/>
                  </a:srgbClr>
                </a:solidFill>
                <a:latin typeface="MiSans"/>
                <a:ea typeface="MiSans"/>
              </a:rPr>
              <a:t>线性代数 · 特征值</a:t>
            </a:r>
            <a:endParaRPr lang="en-US" sz="1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2"/>
              <p:cNvSpPr txBox="1"/>
              <p:nvPr/>
            </p:nvSpPr>
            <p:spPr>
              <a:xfrm>
                <a:off x="10541000" y="2565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A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 </m:t>
                    </m:r>
                    <m:r>
                      <a:rPr lang="en-US" sz="2200" noProof="1" b="1" i="0">
                        <a:solidFill>
                          <a:srgbClr val="F7F5EF"/>
                        </a:solidFill>
                        <a:latin typeface="MiSans"/>
                      </a:rPr>
                      <m:t>v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=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λ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 </m:t>
                    </m:r>
                    <m:r>
                      <a:rPr lang="en-US" sz="2200" noProof="1" b="1" i="0">
                        <a:solidFill>
                          <a:srgbClr val="F7F5EF"/>
                        </a:solidFill>
                        <a:latin typeface="MiSans"/>
                      </a:rPr>
                      <m:t>v</m:t>
                    </m:r>
                  </m:oMath>
                </a14:m>
                <a:r>
                  <a:rPr lang="en-US" sz="2200" noProof="1"/>
                  <a:t xml:space="preserve"> </a:t>
                </a:r>
                <a:endParaRPr lang="en-US" sz="2200" noProof="1"/>
              </a:p>
            </p:txBody>
          </p:sp>
        </mc:Choice>
        <mc:Fallback xmlns="">
          <p:sp>
            <p:nvSpPr>
              <p:cNvPr id="7" name="f2"/>
              <p:cNvSpPr txBox="1"/>
              <p:nvPr/>
            </p:nvSpPr>
            <p:spPr>
              <a:xfrm>
                <a:off x="10541000" y="2565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:r>
                  <a:rPr lang="en-US" sz="2200" noProof="1">
                    <a:solidFill>
                      <a:srgbClr val="F7F5EF"/>
                    </a:solidFill>
                    <a:latin typeface="MiSans"/>
                    <a:ea typeface="MiSans"/>
                  </a:rPr>
                  <a:t>\(A\,\mathbf{v} = \lambda\,\mathbf{v}\)</a:t>
                </a:r>
                <a:endParaRPr lang="en-US" sz="2200" noProof="1"/>
              </a:p>
            </p:txBody>
          </p:sp>
        </mc:Fallback>
      </mc:AlternateContent>
      <p:sp>
        <p:nvSpPr>
          <p:cNvPr id="8" name="f3-cap"/>
          <p:cNvSpPr txBox="1"/>
          <p:nvPr/>
        </p:nvSpPr>
        <p:spPr>
          <a:xfrm>
            <a:off x="10541000" y="3733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7F5EF">
                    <a:alpha val="50196"/>
                  </a:srgbClr>
                </a:solidFill>
                <a:latin typeface="MiSans"/>
                <a:ea typeface="MiSans"/>
              </a:rPr>
              <a:t>求导 · 符号微分</a:t>
            </a:r>
            <a:endParaRPr lang="en-US" sz="1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3"/>
              <p:cNvSpPr txBox="1"/>
              <p:nvPr/>
            </p:nvSpPr>
            <p:spPr>
              <a:xfrm>
                <a:off x="10541000" y="3962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f>
                      <m:fPr>
                        <m:type m:val="bar"/>
                      </m:fPr>
                      <m:num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d</m:t>
                        </m:r>
                      </m:num>
                      <m:den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d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x</m:t>
                        </m:r>
                      </m:den>
                    </m:f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sin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x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=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cos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x</m:t>
                    </m:r>
                  </m:oMath>
                </a14:m>
                <a:r>
                  <a:rPr lang="en-US" sz="2200" noProof="1"/>
                  <a:t xml:space="preserve"> </a:t>
                </a:r>
                <a:endParaRPr lang="en-US" sz="2200" noProof="1"/>
              </a:p>
            </p:txBody>
          </p:sp>
        </mc:Choice>
        <mc:Fallback xmlns="">
          <p:sp>
            <p:nvSpPr>
              <p:cNvPr id="9" name="f3"/>
              <p:cNvSpPr txBox="1"/>
              <p:nvPr/>
            </p:nvSpPr>
            <p:spPr>
              <a:xfrm>
                <a:off x="10541000" y="3962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:r>
                  <a:rPr lang="en-US" sz="2200" noProof="1">
                    <a:solidFill>
                      <a:srgbClr val="F7F5EF"/>
                    </a:solidFill>
                    <a:latin typeface="MiSans"/>
                    <a:ea typeface="MiSans"/>
                  </a:rPr>
                  <a:t>\(\frac{\mathrm{d}}{\mathrm{d}x}\sin x = \cos x\)</a:t>
                </a:r>
                <a:endParaRPr lang="en-US" sz="2200" noProof="1"/>
              </a:p>
            </p:txBody>
          </p:sp>
        </mc:Fallback>
      </mc:AlternateContent>
      <p:sp>
        <p:nvSpPr>
          <p:cNvPr id="10" name="f4-cap"/>
          <p:cNvSpPr txBox="1"/>
          <p:nvPr/>
        </p:nvSpPr>
        <p:spPr>
          <a:xfrm>
            <a:off x="10541000" y="5130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7F5EF">
                    <a:alpha val="50196"/>
                  </a:srgbClr>
                </a:solidFill>
                <a:latin typeface="MiSans"/>
                <a:ea typeface="MiSans"/>
              </a:rPr>
              <a:t>概率统计 · 贝叶斯</a:t>
            </a:r>
            <a:endParaRPr lang="en-US" sz="1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4"/>
              <p:cNvSpPr txBox="1"/>
              <p:nvPr/>
            </p:nvSpPr>
            <p:spPr>
              <a:xfrm>
                <a:off x="10541000" y="5359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P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(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A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∣</m:t>
                    </m:r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B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)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∣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)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 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)</m:t>
                        </m:r>
                      </m:num>
                      <m:den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200" noProof="1"/>
                  <a:t xml:space="preserve"> </a:t>
                </a:r>
                <a:endParaRPr lang="en-US" sz="2200" noProof="1"/>
              </a:p>
            </p:txBody>
          </p:sp>
        </mc:Choice>
        <mc:Fallback xmlns="">
          <p:sp>
            <p:nvSpPr>
              <p:cNvPr id="11" name="f4"/>
              <p:cNvSpPr txBox="1"/>
              <p:nvPr/>
            </p:nvSpPr>
            <p:spPr>
              <a:xfrm>
                <a:off x="10541000" y="5359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:r>
                  <a:rPr lang="en-US" sz="2200" noProof="1">
                    <a:solidFill>
                      <a:srgbClr val="F7F5EF"/>
                    </a:solidFill>
                    <a:latin typeface="MiSans"/>
                    <a:ea typeface="MiSans"/>
                  </a:rPr>
                  <a:t>\(P(A\mid B) = \dfrac{P(B\mid A)\,P(A)}{P(B)}\)</a:t>
                </a:r>
                <a:endParaRPr lang="en-US" sz="2200" noProof="1"/>
              </a:p>
            </p:txBody>
          </p:sp>
        </mc:Fallback>
      </mc:AlternateContent>
      <p:sp>
        <p:nvSpPr>
          <p:cNvPr id="12" name="f5-cap"/>
          <p:cNvSpPr txBox="1"/>
          <p:nvPr/>
        </p:nvSpPr>
        <p:spPr>
          <a:xfrm>
            <a:off x="10541000" y="6527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F7F5EF">
                    <a:alpha val="50196"/>
                  </a:srgbClr>
                </a:solidFill>
                <a:latin typeface="MiSans"/>
                <a:ea typeface="MiSans"/>
              </a:rPr>
              <a:t>几何测量 · 体积</a:t>
            </a:r>
            <a:endParaRPr lang="en-US" sz="10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5"/>
              <p:cNvSpPr txBox="1"/>
              <p:nvPr/>
            </p:nvSpPr>
            <p:spPr>
              <a:xfrm>
                <a:off x="10541000" y="6756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r>
                      <a:rPr lang="en-US" sz="2200" noProof="1" i="1">
                        <a:solidFill>
                          <a:srgbClr val="F7F5EF"/>
                        </a:solidFill>
                        <a:latin typeface="MiSans"/>
                      </a:rPr>
                      <m:t>V</m:t>
                    </m:r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4</m:t>
                        </m:r>
                      </m:num>
                      <m:den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3</m:t>
                        </m:r>
                      </m:den>
                    </m:f>
                    <m:r>
                      <a:rPr lang="en-US" sz="2200" noProof="1" i="0">
                        <a:solidFill>
                          <a:srgbClr val="F7F5EF"/>
                        </a:solidFill>
                        <a:latin typeface="MiSans"/>
                      </a:rPr>
                      <m:t>π</m:t>
                    </m:r>
                    <m:sSup>
                      <m:sSupPr>
                        <m:ctrlPr>
                          <a:rPr lang="en-US" sz="2200" noProof="1">
                            <a:solidFill>
                              <a:srgbClr val="F7F5EF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2200" noProof="1" i="1">
                            <a:solidFill>
                              <a:srgbClr val="F7F5EF"/>
                            </a:solidFill>
                            <a:latin typeface="MiSans"/>
                          </a:rPr>
                          <m:t>r</m:t>
                        </m:r>
                      </m:e>
                      <m:sup>
                        <m:r>
                          <a:rPr lang="en-US" sz="2200" noProof="1" i="0">
                            <a:solidFill>
                              <a:srgbClr val="F7F5EF"/>
                            </a:solidFill>
                            <a:latin typeface="MiSans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200" noProof="1"/>
                  <a:t xml:space="preserve"> </a:t>
                </a:r>
                <a:endParaRPr lang="en-US" sz="2200" noProof="1"/>
              </a:p>
            </p:txBody>
          </p:sp>
        </mc:Choice>
        <mc:Fallback xmlns="">
          <p:sp>
            <p:nvSpPr>
              <p:cNvPr id="13" name="f5"/>
              <p:cNvSpPr txBox="1"/>
              <p:nvPr/>
            </p:nvSpPr>
            <p:spPr>
              <a:xfrm>
                <a:off x="10541000" y="6756400"/>
                <a:ext cx="5207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20000"/>
                  </a:lnSpc>
                </a:pPr>
                <a:r>
                  <a:rPr lang="en-US" sz="2200" noProof="1">
                    <a:solidFill>
                      <a:srgbClr val="F7F5EF"/>
                    </a:solidFill>
                    <a:latin typeface="MiSans"/>
                    <a:ea typeface="MiSans"/>
                  </a:rPr>
                  <a:t>\(V = \frac{4}{3}\pi r^{3}\)</a:t>
                </a:r>
                <a:endParaRPr lang="en-US" sz="2200" noProof="1"/>
              </a:p>
            </p:txBody>
          </p:sp>
        </mc:Fallback>
      </mc:AlternateContent>
      <p:sp>
        <p:nvSpPr>
          <p:cNvPr id="14" name="panel-foot"/>
          <p:cNvSpPr txBox="1"/>
          <p:nvPr/>
        </p:nvSpPr>
        <p:spPr>
          <a:xfrm>
            <a:off x="10541000" y="8077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F7F5EF">
                    <a:alpha val="40000"/>
                  </a:srgbClr>
                </a:solidFill>
                <a:latin typeface="MiSans"/>
                <a:ea typeface="MiSans"/>
              </a:rPr>
              <a:t>端侧计算 · 离线可用</a:t>
            </a:r>
            <a:endParaRPr lang="en-US" sz="1000" noProof="1"/>
          </a:p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F7F5EF">
                    <a:alpha val="40000"/>
                  </a:srgbClr>
                </a:solidFill>
                <a:latin typeface="MiSans"/>
                <a:ea typeface="MiSans"/>
              </a:rPr>
              <a:t>Android / HarmonyOS / iOS / macOS / Windows / Linux</a:t>
            </a:r>
            <a:endParaRPr lang="en-US" sz="1000" noProof="1"/>
          </a:p>
        </p:txBody>
      </p:sp>
      <p:sp>
        <p:nvSpPr>
          <p:cNvPr id="15" name="tag"/>
          <p:cNvSpPr txBox="1"/>
          <p:nvPr/>
        </p:nvSpPr>
        <p:spPr>
          <a:xfrm>
            <a:off x="812800" y="1397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D97A2B"/>
                </a:solidFill>
                <a:latin typeface="MiSans"/>
                <a:ea typeface="MiSans"/>
              </a:rPr>
              <a:t>产品设计方案 · 技术选型 · V1.0</a:t>
            </a:r>
            <a:endParaRPr lang="en-US" sz="1200" noProof="1"/>
          </a:p>
        </p:txBody>
      </p:sp>
      <p:sp>
        <p:nvSpPr>
          <p:cNvPr id="16" name="tag-rule"/>
          <p:cNvSpPr/>
          <p:nvPr/>
        </p:nvSpPr>
        <p:spPr>
          <a:xfrm>
            <a:off x="812800" y="1803400"/>
            <a:ext cx="609600" cy="508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17" name="title"/>
          <p:cNvSpPr txBox="1"/>
          <p:nvPr/>
        </p:nvSpPr>
        <p:spPr>
          <a:xfrm>
            <a:off x="812800" y="2133600"/>
            <a:ext cx="8636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>
                <a:solidFill>
                  <a:srgbClr val="1E2421"/>
                </a:solidFill>
                <a:latin typeface="得意黑"/>
                <a:ea typeface="得意黑"/>
              </a:rPr>
              <a:t>度量衡</a:t>
            </a:r>
            <a:endParaRPr lang="en-US" sz="6400" noProof="1"/>
          </a:p>
        </p:txBody>
      </p:sp>
      <p:sp>
        <p:nvSpPr>
          <p:cNvPr id="18" name="title-en"/>
          <p:cNvSpPr txBox="1"/>
          <p:nvPr/>
        </p:nvSpPr>
        <p:spPr>
          <a:xfrm>
            <a:off x="838200" y="34036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 spc="400" kern="0">
                <a:solidFill>
                  <a:srgbClr val="0E5A4A"/>
                </a:solidFill>
                <a:latin typeface="MiSans"/>
                <a:ea typeface="MiSans"/>
              </a:rPr>
              <a:t>MEASUREKIT · 智能科学计算器</a:t>
            </a:r>
            <a:endParaRPr lang="en-US" sz="1900" noProof="1"/>
          </a:p>
        </p:txBody>
      </p:sp>
      <p:sp>
        <p:nvSpPr>
          <p:cNvPr id="19" name="subtitle"/>
          <p:cNvSpPr txBox="1"/>
          <p:nvPr/>
        </p:nvSpPr>
        <p:spPr>
          <a:xfrm>
            <a:off x="838200" y="4089400"/>
            <a:ext cx="787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736C"/>
                </a:solidFill>
                <a:latin typeface="MiSans"/>
                <a:ea typeface="MiSans"/>
              </a:rPr>
              <a:t>融合符号计算、拍照测量与可配置公式引擎的跨平台计算工具——从手写公式到相机测距，一套内核覆盖六个平台。</a:t>
            </a:r>
            <a:endParaRPr lang="en-US" sz="1400" noProof="1"/>
          </a:p>
        </p:txBody>
      </p:sp>
      <p:sp>
        <p:nvSpPr>
          <p:cNvPr id="20" name="chip1"/>
          <p:cNvSpPr/>
          <p:nvPr/>
        </p:nvSpPr>
        <p:spPr>
          <a:xfrm>
            <a:off x="812800" y="5537200"/>
            <a:ext cx="2540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1" name="chip1-t"/>
          <p:cNvSpPr txBox="1"/>
          <p:nvPr/>
        </p:nvSpPr>
        <p:spPr>
          <a:xfrm>
            <a:off x="1016000" y="5715000"/>
            <a:ext cx="2133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01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noProof="1" b="1">
                <a:solidFill>
                  <a:srgbClr val="1E2421"/>
                </a:solidFill>
                <a:latin typeface="MiSans"/>
                <a:ea typeface="MiSans"/>
              </a:rPr>
              <a:t>符号计算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算术 · 初等函数 · 求导 · 线性代数</a:t>
            </a:r>
            <a:endParaRPr lang="en-US" sz="1600" noProof="1"/>
          </a:p>
        </p:txBody>
      </p:sp>
      <p:sp>
        <p:nvSpPr>
          <p:cNvPr id="22" name="chip2"/>
          <p:cNvSpPr/>
          <p:nvPr/>
        </p:nvSpPr>
        <p:spPr>
          <a:xfrm>
            <a:off x="3556000" y="5537200"/>
            <a:ext cx="2540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3" name="chip2-t"/>
          <p:cNvSpPr txBox="1"/>
          <p:nvPr/>
        </p:nvSpPr>
        <p:spPr>
          <a:xfrm>
            <a:off x="3759200" y="5715000"/>
            <a:ext cx="2133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02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noProof="1" b="1">
                <a:solidFill>
                  <a:srgbClr val="1E2421"/>
                </a:solidFill>
                <a:latin typeface="MiSans"/>
                <a:ea typeface="MiSans"/>
              </a:rPr>
              <a:t>拍照测量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长度 · 面积 · 高度 · 体积</a:t>
            </a:r>
            <a:endParaRPr lang="en-US" sz="1600" noProof="1"/>
          </a:p>
        </p:txBody>
      </p:sp>
      <p:sp>
        <p:nvSpPr>
          <p:cNvPr id="24" name="chip3"/>
          <p:cNvSpPr/>
          <p:nvPr/>
        </p:nvSpPr>
        <p:spPr>
          <a:xfrm>
            <a:off x="6299200" y="5537200"/>
            <a:ext cx="2540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5" name="chip3-t"/>
          <p:cNvSpPr txBox="1"/>
          <p:nvPr/>
        </p:nvSpPr>
        <p:spPr>
          <a:xfrm>
            <a:off x="6502400" y="5715000"/>
            <a:ext cx="2133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03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noProof="1" b="1">
                <a:solidFill>
                  <a:srgbClr val="1E2421"/>
                </a:solidFill>
                <a:latin typeface="MiSans"/>
                <a:ea typeface="MiSans"/>
              </a:rPr>
              <a:t>公式引擎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五类公式库 · 参数化 · 动态组合</a:t>
            </a:r>
            <a:endParaRPr lang="en-US" sz="1600" noProof="1"/>
          </a:p>
        </p:txBody>
      </p:sp>
      <p:sp>
        <p:nvSpPr>
          <p:cNvPr id="26" name="plat-label"/>
          <p:cNvSpPr txBox="1"/>
          <p:nvPr/>
        </p:nvSpPr>
        <p:spPr>
          <a:xfrm>
            <a:off x="812800" y="7416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目标平台</a:t>
            </a:r>
            <a:endParaRPr lang="en-US" sz="1100" noProof="1"/>
          </a:p>
        </p:txBody>
      </p:sp>
      <p:sp>
        <p:nvSpPr>
          <p:cNvPr id="27" name="plat"/>
          <p:cNvSpPr txBox="1"/>
          <p:nvPr/>
        </p:nvSpPr>
        <p:spPr>
          <a:xfrm>
            <a:off x="812800" y="7696200"/>
            <a:ext cx="838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E2421"/>
                </a:solidFill>
                <a:latin typeface="MiSans"/>
                <a:ea typeface="MiSans"/>
              </a:rPr>
              <a:t>Android · HarmonyOS · iOS · macOS · Windows · Linux</a:t>
            </a:r>
            <a:endParaRPr lang="en-US" sz="1600" noProof="1"/>
          </a:p>
        </p:txBody>
      </p:sp>
      <p:sp>
        <p:nvSpPr>
          <p:cNvPr id="28" name="foot-rule"/>
          <p:cNvSpPr/>
          <p:nvPr/>
        </p:nvSpPr>
        <p:spPr>
          <a:xfrm>
            <a:off x="812800" y="8407400"/>
            <a:ext cx="81280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29" name="foot-note"/>
          <p:cNvSpPr txBox="1"/>
          <p:nvPr/>
        </p:nvSpPr>
        <p:spPr>
          <a:xfrm>
            <a:off x="812800" y="85598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内核语言 C++17 · 端侧视觉推理 NCNN / ONNX Runtime Mobile · 公式库存储 SQLite · 能力以 SDK 对外开放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01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功能地图：三大功能域与输入约束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in-label"/>
          <p:cNvSpPr txBox="1"/>
          <p:nvPr/>
        </p:nvSpPr>
        <p:spPr>
          <a:xfrm>
            <a:off x="812800" y="1549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输入层 —— 用户约束的三种输入方式</a:t>
            </a:r>
            <a:endParaRPr lang="en-US" sz="1300" noProof="1"/>
          </a:p>
        </p:txBody>
      </p:sp>
      <p:sp>
        <p:nvSpPr>
          <p:cNvPr id="8" name="in1"/>
          <p:cNvSpPr/>
          <p:nvPr/>
        </p:nvSpPr>
        <p:spPr>
          <a:xfrm>
            <a:off x="812800" y="1879600"/>
            <a:ext cx="46736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9" name="in1-t"/>
          <p:cNvSpPr txBox="1"/>
          <p:nvPr/>
        </p:nvSpPr>
        <p:spPr>
          <a:xfrm>
            <a:off x="1016000" y="2032000"/>
            <a:ext cx="4267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手动输入公式 → 系统校准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字符白名单 + 语法解析 + 定义域与单位校验，拦截无意义输入</a:t>
            </a:r>
            <a:endParaRPr lang="en-US" sz="1600" noProof="1"/>
          </a:p>
        </p:txBody>
      </p:sp>
      <p:sp>
        <p:nvSpPr>
          <p:cNvPr id="10" name="in2"/>
          <p:cNvSpPr/>
          <p:nvPr/>
        </p:nvSpPr>
        <p:spPr>
          <a:xfrm>
            <a:off x="5689600" y="1879600"/>
            <a:ext cx="46736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1" name="in2-t"/>
          <p:cNvSpPr txBox="1"/>
          <p:nvPr/>
        </p:nvSpPr>
        <p:spPr>
          <a:xfrm>
            <a:off x="5892800" y="2032000"/>
            <a:ext cx="4267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公式库选择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预置五大类数学公式，参数与变量值均可配置</a:t>
            </a:r>
            <a:endParaRPr lang="en-US" sz="1600" noProof="1"/>
          </a:p>
        </p:txBody>
      </p:sp>
      <p:sp>
        <p:nvSpPr>
          <p:cNvPr id="12" name="in3"/>
          <p:cNvSpPr/>
          <p:nvPr/>
        </p:nvSpPr>
        <p:spPr>
          <a:xfrm>
            <a:off x="10566400" y="1879600"/>
            <a:ext cx="48768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3" name="in3-t"/>
          <p:cNvSpPr txBox="1"/>
          <p:nvPr/>
        </p:nvSpPr>
        <p:spPr>
          <a:xfrm>
            <a:off x="10769600" y="2032000"/>
            <a:ext cx="4470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相机拍照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识别测量对象，端侧轻量模型推理，离线可用</a:t>
            </a:r>
            <a:endParaRPr lang="en-US" sz="1600" noProof="1"/>
          </a:p>
        </p:txBody>
      </p:sp>
      <p:sp>
        <p:nvSpPr>
          <p:cNvPr id="14" name="arr1"/>
          <p:cNvSpPr/>
          <p:nvPr/>
        </p:nvSpPr>
        <p:spPr>
          <a:xfrm>
            <a:off x="3022600" y="3048000"/>
            <a:ext cx="203200" cy="2286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5" name="arr2"/>
          <p:cNvSpPr/>
          <p:nvPr/>
        </p:nvSpPr>
        <p:spPr>
          <a:xfrm>
            <a:off x="7899400" y="3048000"/>
            <a:ext cx="203200" cy="2286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6" name="arr3"/>
          <p:cNvSpPr/>
          <p:nvPr/>
        </p:nvSpPr>
        <p:spPr>
          <a:xfrm>
            <a:off x="12877800" y="3048000"/>
            <a:ext cx="203200" cy="2286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7" name="fn-label"/>
          <p:cNvSpPr txBox="1"/>
          <p:nvPr/>
        </p:nvSpPr>
        <p:spPr>
          <a:xfrm>
            <a:off x="812800" y="3403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功能域 —— 三大核心能力</a:t>
            </a:r>
            <a:endParaRPr lang="en-US" sz="1300" noProof="1"/>
          </a:p>
        </p:txBody>
      </p:sp>
      <p:sp>
        <p:nvSpPr>
          <p:cNvPr id="18" name="fnA"/>
          <p:cNvSpPr/>
          <p:nvPr/>
        </p:nvSpPr>
        <p:spPr>
          <a:xfrm>
            <a:off x="812800" y="3733800"/>
            <a:ext cx="6858000" cy="332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9" name="fnA-head"/>
          <p:cNvSpPr/>
          <p:nvPr/>
        </p:nvSpPr>
        <p:spPr>
          <a:xfrm>
            <a:off x="812800" y="3733800"/>
            <a:ext cx="6858000" cy="4826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20" name="fnA-head-t"/>
          <p:cNvSpPr txBox="1"/>
          <p:nvPr/>
        </p:nvSpPr>
        <p:spPr>
          <a:xfrm>
            <a:off x="1066800" y="3733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A · 符号与工程计算</a:t>
            </a:r>
            <a:endParaRPr lang="en-US" sz="1500" noProof="1"/>
          </a:p>
        </p:txBody>
      </p:sp>
      <p:sp>
        <p:nvSpPr>
          <p:cNvPr id="21" name="fnA-list"/>
          <p:cNvSpPr txBox="1"/>
          <p:nvPr/>
        </p:nvSpPr>
        <p:spPr>
          <a:xfrm>
            <a:off x="1066800" y="4394200"/>
            <a:ext cx="6350000" cy="251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基本算术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：四则、幂、开方、阶乘、百分数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初等函数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：三角 / 反三角、指数对数、双曲、Γ 函数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求导运算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：符号微分，支持高阶导数与多元偏导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线性代数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：转置、特征值与特征向量、L1 / L2 / F 范数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分解与求解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：LU · QR · SVD 分解，线性方程组求解</a:t>
            </a:r>
            <a:endParaRPr lang="en-US" sz="1150" noProof="1"/>
          </a:p>
        </p:txBody>
      </p:sp>
      <p:sp>
        <p:nvSpPr>
          <p:cNvPr id="22" name="fnB"/>
          <p:cNvSpPr/>
          <p:nvPr/>
        </p:nvSpPr>
        <p:spPr>
          <a:xfrm>
            <a:off x="7874000" y="3733800"/>
            <a:ext cx="3683000" cy="332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3" name="fnB-head"/>
          <p:cNvSpPr/>
          <p:nvPr/>
        </p:nvSpPr>
        <p:spPr>
          <a:xfrm>
            <a:off x="7874000" y="3733800"/>
            <a:ext cx="3683000" cy="4826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24" name="fnB-head-t"/>
          <p:cNvSpPr txBox="1"/>
          <p:nvPr/>
        </p:nvSpPr>
        <p:spPr>
          <a:xfrm>
            <a:off x="8128000" y="37338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B · 拍照测量</a:t>
            </a:r>
            <a:endParaRPr lang="en-US" sz="1500" noProof="1"/>
          </a:p>
        </p:txBody>
      </p:sp>
      <p:sp>
        <p:nvSpPr>
          <p:cNvPr id="25" name="fnB-list"/>
          <p:cNvSpPr txBox="1"/>
          <p:nvPr/>
        </p:nvSpPr>
        <p:spPr>
          <a:xfrm>
            <a:off x="8128000" y="4394200"/>
            <a:ext cx="3175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长度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：参照物标定换算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面积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：平面 / 不规则轮廓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高度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：三角测高 + 深度估计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体积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：多角度拍摄重建</a:t>
            </a:r>
            <a:endParaRPr lang="en-US" sz="1150" noProof="1"/>
          </a:p>
        </p:txBody>
      </p:sp>
      <p:sp>
        <p:nvSpPr>
          <p:cNvPr id="26" name="fnB-note"/>
          <p:cNvSpPr txBox="1"/>
          <p:nvPr/>
        </p:nvSpPr>
        <p:spPr>
          <a:xfrm>
            <a:off x="8128000" y="65024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D97A2B"/>
                </a:solidFill>
                <a:latin typeface="MiSans"/>
                <a:ea typeface="MiSans"/>
              </a:rPr>
              <a:t>全部离线运行，模型总量 ≤ 15 MB</a:t>
            </a:r>
            <a:endParaRPr lang="en-US" sz="1000" noProof="1"/>
          </a:p>
        </p:txBody>
      </p:sp>
      <p:sp>
        <p:nvSpPr>
          <p:cNvPr id="27" name="fnC"/>
          <p:cNvSpPr/>
          <p:nvPr/>
        </p:nvSpPr>
        <p:spPr>
          <a:xfrm>
            <a:off x="11760200" y="3733800"/>
            <a:ext cx="3683000" cy="332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8" name="fnC-head"/>
          <p:cNvSpPr/>
          <p:nvPr/>
        </p:nvSpPr>
        <p:spPr>
          <a:xfrm>
            <a:off x="11760200" y="3733800"/>
            <a:ext cx="3683000" cy="48260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9" name="fnC-head-t"/>
          <p:cNvSpPr txBox="1"/>
          <p:nvPr/>
        </p:nvSpPr>
        <p:spPr>
          <a:xfrm>
            <a:off x="12014200" y="37338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C · 公式引擎</a:t>
            </a:r>
            <a:endParaRPr lang="en-US" sz="1500" noProof="1"/>
          </a:p>
        </p:txBody>
      </p:sp>
      <p:sp>
        <p:nvSpPr>
          <p:cNvPr id="30" name="fnC-list"/>
          <p:cNvSpPr txBox="1"/>
          <p:nvPr/>
        </p:nvSpPr>
        <p:spPr>
          <a:xfrm>
            <a:off x="12014200" y="4394200"/>
            <a:ext cx="3200400" cy="251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五类公式库：一般数学 / 概率统计 / 数据分析 / 线性代数 / 微积分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参数与变量值均可配置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公式动态组合、级联调用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自定义公式入库</a:t>
            </a:r>
            <a:endParaRPr lang="en-US" sz="1150" noProof="1"/>
          </a:p>
        </p:txBody>
      </p:sp>
      <p:sp>
        <p:nvSpPr>
          <p:cNvPr id="31" name="out-band"/>
          <p:cNvSpPr/>
          <p:nvPr/>
        </p:nvSpPr>
        <p:spPr>
          <a:xfrm>
            <a:off x="812800" y="7366000"/>
            <a:ext cx="14630400" cy="8382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32" name="out-label"/>
          <p:cNvSpPr txBox="1"/>
          <p:nvPr/>
        </p:nvSpPr>
        <p:spPr>
          <a:xfrm>
            <a:off x="1117600" y="73660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输出与平台</a:t>
            </a:r>
            <a:endParaRPr lang="en-US" sz="1300" noProof="1"/>
          </a:p>
        </p:txBody>
      </p:sp>
      <p:sp>
        <p:nvSpPr>
          <p:cNvPr id="33" name="out-text"/>
          <p:cNvSpPr txBox="1"/>
          <p:nvPr/>
        </p:nvSpPr>
        <p:spPr>
          <a:xfrm>
            <a:off x="2921000" y="7366000"/>
            <a:ext cx="1219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1E2421"/>
                </a:solidFill>
                <a:latin typeface="MiSans"/>
                <a:ea typeface="MiSans"/>
              </a:rPr>
              <a:t>数值结果 · 分步解析 · 单位换算 · 历史记录与导出 —— 六端共享同一套 C++ 内核，内核能力经 SDK 对第三方开放</a:t>
            </a:r>
            <a:endParaRPr lang="en-US" sz="1200" noProof="1"/>
          </a:p>
        </p:txBody>
      </p:sp>
      <p:sp>
        <p:nvSpPr>
          <p:cNvPr id="34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35" name="foot-note"/>
          <p:cNvSpPr txBox="1"/>
          <p:nvPr/>
        </p:nvSpPr>
        <p:spPr>
          <a:xfrm>
            <a:off x="812800" y="8686800"/>
            <a:ext cx="1143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图例：深色标题条 = 功能域；橙色双向箭头 = 输入与功能域之间的校验反馈回路（不合法输入即时拦截）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02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总体架构：一套 C++ 内核，六端共享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l1"/>
          <p:cNvSpPr/>
          <p:nvPr/>
        </p:nvSpPr>
        <p:spPr>
          <a:xfrm>
            <a:off x="812800" y="1752600"/>
            <a:ext cx="7874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8" name="l1-tag"/>
          <p:cNvSpPr/>
          <p:nvPr/>
        </p:nvSpPr>
        <p:spPr>
          <a:xfrm>
            <a:off x="812800" y="1752600"/>
            <a:ext cx="1473200" cy="11176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9" name="l1-tag-t"/>
          <p:cNvSpPr txBox="1"/>
          <p:nvPr/>
        </p:nvSpPr>
        <p:spPr>
          <a:xfrm>
            <a:off x="812800" y="1752600"/>
            <a:ext cx="14732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应用层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6E736C"/>
                </a:solidFill>
                <a:latin typeface="MiSans"/>
                <a:ea typeface="MiSans"/>
              </a:rPr>
              <a:t>端原生 UI</a:t>
            </a:r>
            <a:endParaRPr lang="en-US" sz="1600" noProof="1"/>
          </a:p>
        </p:txBody>
      </p:sp>
      <p:sp>
        <p:nvSpPr>
          <p:cNvPr id="10" name="l1-c1"/>
          <p:cNvSpPr/>
          <p:nvPr/>
        </p:nvSpPr>
        <p:spPr>
          <a:xfrm>
            <a:off x="2489200" y="1854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11" name="l1-c1-t"/>
          <p:cNvSpPr txBox="1"/>
          <p:nvPr/>
        </p:nvSpPr>
        <p:spPr>
          <a:xfrm>
            <a:off x="2489200" y="1854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Android · Kotlin</a:t>
            </a:r>
            <a:endParaRPr lang="en-US" sz="1000" noProof="1"/>
          </a:p>
        </p:txBody>
      </p:sp>
      <p:sp>
        <p:nvSpPr>
          <p:cNvPr id="12" name="l1-c2"/>
          <p:cNvSpPr/>
          <p:nvPr/>
        </p:nvSpPr>
        <p:spPr>
          <a:xfrm>
            <a:off x="4546600" y="1854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13" name="l1-c2-t"/>
          <p:cNvSpPr txBox="1"/>
          <p:nvPr/>
        </p:nvSpPr>
        <p:spPr>
          <a:xfrm>
            <a:off x="4546600" y="1854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HarmonyOS · ArkTS</a:t>
            </a:r>
            <a:endParaRPr lang="en-US" sz="1000" noProof="1"/>
          </a:p>
        </p:txBody>
      </p:sp>
      <p:sp>
        <p:nvSpPr>
          <p:cNvPr id="14" name="l1-c3"/>
          <p:cNvSpPr/>
          <p:nvPr/>
        </p:nvSpPr>
        <p:spPr>
          <a:xfrm>
            <a:off x="6604000" y="1854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15" name="l1-c3-t"/>
          <p:cNvSpPr txBox="1"/>
          <p:nvPr/>
        </p:nvSpPr>
        <p:spPr>
          <a:xfrm>
            <a:off x="6604000" y="1854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iOS · Swift</a:t>
            </a:r>
            <a:endParaRPr lang="en-US" sz="1000" noProof="1"/>
          </a:p>
        </p:txBody>
      </p:sp>
      <p:sp>
        <p:nvSpPr>
          <p:cNvPr id="16" name="l1-c4"/>
          <p:cNvSpPr/>
          <p:nvPr/>
        </p:nvSpPr>
        <p:spPr>
          <a:xfrm>
            <a:off x="2489200" y="2362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17" name="l1-c4-t"/>
          <p:cNvSpPr txBox="1"/>
          <p:nvPr/>
        </p:nvSpPr>
        <p:spPr>
          <a:xfrm>
            <a:off x="2489200" y="2362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macOS · Swift</a:t>
            </a:r>
            <a:endParaRPr lang="en-US" sz="1000" noProof="1"/>
          </a:p>
        </p:txBody>
      </p:sp>
      <p:sp>
        <p:nvSpPr>
          <p:cNvPr id="18" name="l1-c5"/>
          <p:cNvSpPr/>
          <p:nvPr/>
        </p:nvSpPr>
        <p:spPr>
          <a:xfrm>
            <a:off x="4546600" y="2362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19" name="l1-c5-t"/>
          <p:cNvSpPr txBox="1"/>
          <p:nvPr/>
        </p:nvSpPr>
        <p:spPr>
          <a:xfrm>
            <a:off x="4546600" y="2362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Windows · Qt 6</a:t>
            </a:r>
            <a:endParaRPr lang="en-US" sz="1000" noProof="1"/>
          </a:p>
        </p:txBody>
      </p:sp>
      <p:sp>
        <p:nvSpPr>
          <p:cNvPr id="20" name="l1-c6"/>
          <p:cNvSpPr/>
          <p:nvPr/>
        </p:nvSpPr>
        <p:spPr>
          <a:xfrm>
            <a:off x="6604000" y="2362200"/>
            <a:ext cx="1879600" cy="406400"/>
          </a:xfrm>
          <a:prstGeom prst="rect">
            <a:avLst/>
          </a:prstGeom>
          <a:solidFill>
            <a:srgbClr val="F1EEE6"/>
          </a:solidFill>
          <a:ln>
            <a:noFill/>
          </a:ln>
        </p:spPr>
      </p:sp>
      <p:sp>
        <p:nvSpPr>
          <p:cNvPr id="21" name="l1-c6-t"/>
          <p:cNvSpPr txBox="1"/>
          <p:nvPr/>
        </p:nvSpPr>
        <p:spPr>
          <a:xfrm>
            <a:off x="6604000" y="2362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E2421"/>
                </a:solidFill>
                <a:latin typeface="MiSans"/>
                <a:ea typeface="MiSans"/>
              </a:rPr>
              <a:t>Linux · Qt 6</a:t>
            </a:r>
            <a:endParaRPr lang="en-US" sz="1000" noProof="1"/>
          </a:p>
        </p:txBody>
      </p:sp>
      <p:sp>
        <p:nvSpPr>
          <p:cNvPr id="22" name="arr12"/>
          <p:cNvSpPr/>
          <p:nvPr/>
        </p:nvSpPr>
        <p:spPr>
          <a:xfrm>
            <a:off x="4648200" y="2895600"/>
            <a:ext cx="203200" cy="177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23" name="l-sdk"/>
          <p:cNvSpPr/>
          <p:nvPr/>
        </p:nvSpPr>
        <p:spPr>
          <a:xfrm>
            <a:off x="812800" y="3124200"/>
            <a:ext cx="787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A2B"/>
            </a:solidFill>
          </a:ln>
        </p:spPr>
      </p:sp>
      <p:sp>
        <p:nvSpPr>
          <p:cNvPr id="24" name="l-sdk-tag"/>
          <p:cNvSpPr/>
          <p:nvPr/>
        </p:nvSpPr>
        <p:spPr>
          <a:xfrm>
            <a:off x="812800" y="3124200"/>
            <a:ext cx="1473200" cy="8128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25" name="l-sdk-tag-t"/>
          <p:cNvSpPr txBox="1"/>
          <p:nvPr/>
        </p:nvSpPr>
        <p:spPr>
          <a:xfrm>
            <a:off x="812800" y="3124200"/>
            <a:ext cx="1473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SDK 封装层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对外开放</a:t>
            </a:r>
            <a:endParaRPr lang="en-US" sz="1600" noProof="1"/>
          </a:p>
        </p:txBody>
      </p:sp>
      <p:sp>
        <p:nvSpPr>
          <p:cNvPr id="26" name="l-sdk-t"/>
          <p:cNvSpPr txBox="1"/>
          <p:nvPr/>
        </p:nvSpPr>
        <p:spPr>
          <a:xfrm>
            <a:off x="2489200" y="3124200"/>
            <a:ext cx="5994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C ABI 稳定边界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 + 各语言封装（Kotlin · ArkTS · C++/Qt · C#）</a:t>
            </a:r>
            <a:endParaRPr lang="en-US" sz="11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自有四端 UI 与第三方应用共用同一入口，内核能力经 SDK 对外开放</a:t>
            </a:r>
            <a:endParaRPr lang="en-US" sz="1100" noProof="1"/>
          </a:p>
        </p:txBody>
      </p:sp>
      <p:sp>
        <p:nvSpPr>
          <p:cNvPr id="27" name="arr23"/>
          <p:cNvSpPr/>
          <p:nvPr/>
        </p:nvSpPr>
        <p:spPr>
          <a:xfrm>
            <a:off x="4648200" y="3962400"/>
            <a:ext cx="203200" cy="177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28" name="l2"/>
          <p:cNvSpPr/>
          <p:nvPr/>
        </p:nvSpPr>
        <p:spPr>
          <a:xfrm>
            <a:off x="812800" y="4191000"/>
            <a:ext cx="7874000" cy="12700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29" name="l2-tag-t"/>
          <p:cNvSpPr txBox="1"/>
          <p:nvPr/>
        </p:nvSpPr>
        <p:spPr>
          <a:xfrm>
            <a:off x="812800" y="4191000"/>
            <a:ext cx="1473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计算内核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C++17 / 20</a:t>
            </a:r>
            <a:endParaRPr lang="en-US" sz="1600" noProof="1"/>
          </a:p>
        </p:txBody>
      </p:sp>
      <p:sp>
        <p:nvSpPr>
          <p:cNvPr id="30" name="l2-c1"/>
          <p:cNvSpPr/>
          <p:nvPr/>
        </p:nvSpPr>
        <p:spPr>
          <a:xfrm>
            <a:off x="2489200" y="4318000"/>
            <a:ext cx="2895600" cy="4572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31" name="l2-c1-t"/>
          <p:cNvSpPr txBox="1"/>
          <p:nvPr/>
        </p:nvSpPr>
        <p:spPr>
          <a:xfrm>
            <a:off x="2489200" y="4318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表达式解析与校验</a:t>
            </a:r>
            <a:endParaRPr lang="en-US" sz="1100" noProof="1"/>
          </a:p>
        </p:txBody>
      </p:sp>
      <p:sp>
        <p:nvSpPr>
          <p:cNvPr id="32" name="l2-c2"/>
          <p:cNvSpPr/>
          <p:nvPr/>
        </p:nvSpPr>
        <p:spPr>
          <a:xfrm>
            <a:off x="5588000" y="4318000"/>
            <a:ext cx="2895600" cy="4572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33" name="l2-c2-t"/>
          <p:cNvSpPr txBox="1"/>
          <p:nvPr/>
        </p:nvSpPr>
        <p:spPr>
          <a:xfrm>
            <a:off x="5588000" y="4318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符号微分（求导）</a:t>
            </a:r>
            <a:endParaRPr lang="en-US" sz="1100" noProof="1"/>
          </a:p>
        </p:txBody>
      </p:sp>
      <p:sp>
        <p:nvSpPr>
          <p:cNvPr id="34" name="l2-c3"/>
          <p:cNvSpPr/>
          <p:nvPr/>
        </p:nvSpPr>
        <p:spPr>
          <a:xfrm>
            <a:off x="2489200" y="4876800"/>
            <a:ext cx="2895600" cy="4572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35" name="l2-c3-t"/>
          <p:cNvSpPr txBox="1"/>
          <p:nvPr/>
        </p:nvSpPr>
        <p:spPr>
          <a:xfrm>
            <a:off x="2489200" y="487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线性代数 · Eigen</a:t>
            </a:r>
            <a:endParaRPr lang="en-US" sz="1100" noProof="1"/>
          </a:p>
        </p:txBody>
      </p:sp>
      <p:sp>
        <p:nvSpPr>
          <p:cNvPr id="36" name="l2-c4"/>
          <p:cNvSpPr/>
          <p:nvPr/>
        </p:nvSpPr>
        <p:spPr>
          <a:xfrm>
            <a:off x="5588000" y="4876800"/>
            <a:ext cx="2895600" cy="4572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37" name="l2-c4-t"/>
          <p:cNvSpPr txBox="1"/>
          <p:nvPr/>
        </p:nvSpPr>
        <p:spPr>
          <a:xfrm>
            <a:off x="5588000" y="487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几何解算</a:t>
            </a:r>
            <a:endParaRPr lang="en-US" sz="1100" noProof="1"/>
          </a:p>
        </p:txBody>
      </p:sp>
      <p:sp>
        <p:nvSpPr>
          <p:cNvPr id="38" name="arr34"/>
          <p:cNvSpPr/>
          <p:nvPr/>
        </p:nvSpPr>
        <p:spPr>
          <a:xfrm>
            <a:off x="4648200" y="5486400"/>
            <a:ext cx="203200" cy="17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39" name="l3"/>
          <p:cNvSpPr/>
          <p:nvPr/>
        </p:nvSpPr>
        <p:spPr>
          <a:xfrm>
            <a:off x="812800" y="5715000"/>
            <a:ext cx="7874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40" name="l3-tag"/>
          <p:cNvSpPr/>
          <p:nvPr/>
        </p:nvSpPr>
        <p:spPr>
          <a:xfrm>
            <a:off x="812800" y="5715000"/>
            <a:ext cx="1473200" cy="9652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41" name="l3-tag-t"/>
          <p:cNvSpPr txBox="1"/>
          <p:nvPr/>
        </p:nvSpPr>
        <p:spPr>
          <a:xfrm>
            <a:off x="812800" y="5715000"/>
            <a:ext cx="1473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视觉推理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6E736C"/>
                </a:solidFill>
                <a:latin typeface="MiSans"/>
                <a:ea typeface="MiSans"/>
              </a:rPr>
              <a:t>端侧 · 离线</a:t>
            </a:r>
            <a:endParaRPr lang="en-US" sz="1600" noProof="1"/>
          </a:p>
        </p:txBody>
      </p:sp>
      <p:sp>
        <p:nvSpPr>
          <p:cNvPr id="42" name="l3-t"/>
          <p:cNvSpPr txBox="1"/>
          <p:nvPr/>
        </p:nvSpPr>
        <p:spPr>
          <a:xfrm>
            <a:off x="2489200" y="5715000"/>
            <a:ext cx="5994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NCNN / ONNX Runtime Mobile + OpenCV</a:t>
            </a:r>
            <a:endParaRPr lang="en-US" sz="1100" noProof="1"/>
          </a:p>
          <a:p>
            <a:pPr algn="l">
              <a:lnSpc>
                <a:spcPct val="16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轻量模型总量 ≤ 15 MB，不引入大模型，支持 NPU / GPU 加速</a:t>
            </a:r>
            <a:endParaRPr lang="en-US" sz="1100" noProof="1"/>
          </a:p>
        </p:txBody>
      </p:sp>
      <p:sp>
        <p:nvSpPr>
          <p:cNvPr id="43" name="arr45"/>
          <p:cNvSpPr/>
          <p:nvPr/>
        </p:nvSpPr>
        <p:spPr>
          <a:xfrm>
            <a:off x="4648200" y="6705600"/>
            <a:ext cx="203200" cy="17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44" name="l4"/>
          <p:cNvSpPr/>
          <p:nvPr/>
        </p:nvSpPr>
        <p:spPr>
          <a:xfrm>
            <a:off x="812800" y="6934200"/>
            <a:ext cx="7874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45" name="l4-tag"/>
          <p:cNvSpPr/>
          <p:nvPr/>
        </p:nvSpPr>
        <p:spPr>
          <a:xfrm>
            <a:off x="812800" y="6934200"/>
            <a:ext cx="1473200" cy="7620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46" name="l4-tag-t"/>
          <p:cNvSpPr txBox="1"/>
          <p:nvPr/>
        </p:nvSpPr>
        <p:spPr>
          <a:xfrm>
            <a:off x="812800" y="6934200"/>
            <a:ext cx="1473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数据层</a:t>
            </a:r>
            <a:endParaRPr lang="en-US" sz="1300" noProof="1"/>
          </a:p>
        </p:txBody>
      </p:sp>
      <p:sp>
        <p:nvSpPr>
          <p:cNvPr id="47" name="l4-t"/>
          <p:cNvSpPr txBox="1"/>
          <p:nvPr/>
        </p:nvSpPr>
        <p:spPr>
          <a:xfrm>
            <a:off x="2489200" y="6934200"/>
            <a:ext cx="5994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公式库（SQLite / JSON）· 用户配置 · 历史记录</a:t>
            </a:r>
            <a:endParaRPr lang="en-US" sz="1100" noProof="1"/>
          </a:p>
        </p:txBody>
      </p:sp>
      <p:sp>
        <p:nvSpPr>
          <p:cNvPr id="48" name="right-title"/>
          <p:cNvSpPr txBox="1"/>
          <p:nvPr/>
        </p:nvSpPr>
        <p:spPr>
          <a:xfrm>
            <a:off x="9194800" y="1752600"/>
            <a:ext cx="624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4A"/>
                </a:solidFill>
                <a:latin typeface="MiSans"/>
                <a:ea typeface="MiSans"/>
              </a:rPr>
              <a:t>语言选型决策</a:t>
            </a:r>
            <a:endParaRPr lang="en-US" sz="1400" noProof="1"/>
          </a:p>
        </p:txBody>
      </p:sp>
      <p:graphicFrame>
        <p:nvGraphicFramePr>
          <p:cNvPr id="49" name="lang-table"/>
          <p:cNvGraphicFramePr>
            <a:graphicFrameLocks noGrp="1"/>
          </p:cNvGraphicFramePr>
          <p:nvPr/>
        </p:nvGraphicFramePr>
        <p:xfrm>
          <a:off x="9194800" y="2108200"/>
          <a:ext cx="6248400" cy="2260600"/>
        </p:xfrm>
        <a:graphic>
          <a:graphicData uri="http://schemas.openxmlformats.org/drawingml/2006/table">
            <a:tbl>
              <a:tblPr/>
              <a:tblGrid>
                <a:gridCol w="1124712"/>
                <a:gridCol w="1999488"/>
                <a:gridCol w="3124200"/>
              </a:tblGrid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语言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角色定位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</a:tr>
              <a:tr h="6035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C++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核心引擎（主力）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六端共享同一内核，性能与内存可控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算法验证 / 原型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用 SymPy、NumPy 对照测试，不进客户端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601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Go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可选服务端 / 工具链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公式库更新服务、构建发布脚本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concl"/>
          <p:cNvSpPr/>
          <p:nvPr/>
        </p:nvSpPr>
        <p:spPr>
          <a:xfrm>
            <a:off x="9194800" y="4597400"/>
            <a:ext cx="6248400" cy="10160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51" name="concl-bar"/>
          <p:cNvSpPr/>
          <p:nvPr/>
        </p:nvSpPr>
        <p:spPr>
          <a:xfrm>
            <a:off x="9194800" y="4597400"/>
            <a:ext cx="63500" cy="10160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52" name="concl-t"/>
          <p:cNvSpPr txBox="1"/>
          <p:nvPr/>
        </p:nvSpPr>
        <p:spPr>
          <a:xfrm>
            <a:off x="9448800" y="4597400"/>
            <a:ext cx="5791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结论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：以 C++ 为唯一计算内核，避免多语言混编的维护成本；Python / Go 不进入客户端运行时；内核能力通过 SDK 层统一对外开放。</a:t>
            </a:r>
            <a:endParaRPr lang="en-US" sz="1150" noProof="1"/>
          </a:p>
        </p:txBody>
      </p:sp>
      <p:sp>
        <p:nvSpPr>
          <p:cNvPr id="53" name="dep-title"/>
          <p:cNvSpPr txBox="1"/>
          <p:nvPr/>
        </p:nvSpPr>
        <p:spPr>
          <a:xfrm>
            <a:off x="9194800" y="5867400"/>
            <a:ext cx="624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4A"/>
                </a:solidFill>
                <a:latin typeface="MiSans"/>
                <a:ea typeface="MiSans"/>
              </a:rPr>
              <a:t>关键开源依赖</a:t>
            </a:r>
            <a:endParaRPr lang="en-US" sz="1400" noProof="1"/>
          </a:p>
        </p:txBody>
      </p:sp>
      <p:sp>
        <p:nvSpPr>
          <p:cNvPr id="54" name="dep-list"/>
          <p:cNvSpPr txBox="1"/>
          <p:nvPr/>
        </p:nvSpPr>
        <p:spPr>
          <a:xfrm>
            <a:off x="9194800" y="6197600"/>
            <a:ext cx="62484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Eigen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：线性代数，header-only，极易交叉编译</a:t>
            </a:r>
            <a:endParaRPr lang="en-US" sz="1100" noProof="1"/>
          </a:p>
          <a:p>
            <a:pPr>
              <a:lnSpc>
                <a:spcPct val="18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NCNN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：端侧推理，无第三方依赖，体积小</a:t>
            </a:r>
            <a:endParaRPr lang="en-US" sz="1100" noProof="1"/>
          </a:p>
          <a:p>
            <a:pPr>
              <a:lnSpc>
                <a:spcPct val="18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ONNX Runtime Mobile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：模型可移植的备份方案</a:t>
            </a:r>
            <a:endParaRPr lang="en-US" sz="1100" noProof="1"/>
          </a:p>
          <a:p>
            <a:pPr>
              <a:lnSpc>
                <a:spcPct val="18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OpenCV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：图像预处理与几何解算</a:t>
            </a:r>
            <a:endParaRPr lang="en-US" sz="1100" noProof="1"/>
          </a:p>
          <a:p>
            <a:pPr>
              <a:lnSpc>
                <a:spcPct val="185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SQLite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：公式库与用户配置存储</a:t>
            </a:r>
            <a:endParaRPr lang="en-US" sz="1100" noProof="1"/>
          </a:p>
        </p:txBody>
      </p:sp>
      <p:sp>
        <p:nvSpPr>
          <p:cNvPr id="55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56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架构原则：UI 与内核分离，内核零平台依赖；橙色边框 = SDK 对外开放边界；双向箭头 = 调用与返回，详见下一页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03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219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开放 SDK：稳定 ABI 边界与多端交付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layer-label"/>
          <p:cNvSpPr txBox="1"/>
          <p:nvPr/>
        </p:nvSpPr>
        <p:spPr>
          <a:xfrm>
            <a:off x="812800" y="154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SDK 分层 —— 调用方与内核之间只有一层稳定 C ABI</a:t>
            </a:r>
            <a:endParaRPr lang="en-US" sz="1300" noProof="1"/>
          </a:p>
        </p:txBody>
      </p:sp>
      <p:sp>
        <p:nvSpPr>
          <p:cNvPr id="8" name="b1"/>
          <p:cNvSpPr/>
          <p:nvPr/>
        </p:nvSpPr>
        <p:spPr>
          <a:xfrm>
            <a:off x="812800" y="1879600"/>
            <a:ext cx="7112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9" name="b1-t"/>
          <p:cNvSpPr txBox="1"/>
          <p:nvPr/>
        </p:nvSpPr>
        <p:spPr>
          <a:xfrm>
            <a:off x="1066800" y="1879600"/>
            <a:ext cx="665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调用方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自有四端 App · 第三方应用（教育、工程、工业测量类软件）</a:t>
            </a:r>
            <a:endParaRPr lang="en-US" sz="1600" noProof="1"/>
          </a:p>
        </p:txBody>
      </p:sp>
      <p:sp>
        <p:nvSpPr>
          <p:cNvPr id="10" name="ba1"/>
          <p:cNvSpPr/>
          <p:nvPr/>
        </p:nvSpPr>
        <p:spPr>
          <a:xfrm>
            <a:off x="4267200" y="2692400"/>
            <a:ext cx="177800" cy="1524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1" name="b2"/>
          <p:cNvSpPr/>
          <p:nvPr/>
        </p:nvSpPr>
        <p:spPr>
          <a:xfrm>
            <a:off x="812800" y="2870200"/>
            <a:ext cx="7112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2" name="b2-t"/>
          <p:cNvSpPr txBox="1"/>
          <p:nvPr/>
        </p:nvSpPr>
        <p:spPr>
          <a:xfrm>
            <a:off x="1066800" y="2870200"/>
            <a:ext cx="665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语言封装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Kotlin / Java · ArkTS · Swift · C++ / Qt · C#（.NET，可选），贴合各语言习惯的对象式 API</a:t>
            </a:r>
            <a:endParaRPr lang="en-US" sz="1600" noProof="1"/>
          </a:p>
        </p:txBody>
      </p:sp>
      <p:sp>
        <p:nvSpPr>
          <p:cNvPr id="13" name="ba2"/>
          <p:cNvSpPr/>
          <p:nvPr/>
        </p:nvSpPr>
        <p:spPr>
          <a:xfrm>
            <a:off x="4267200" y="3683000"/>
            <a:ext cx="177800" cy="1524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4" name="b3"/>
          <p:cNvSpPr/>
          <p:nvPr/>
        </p:nvSpPr>
        <p:spPr>
          <a:xfrm>
            <a:off x="812800" y="3860800"/>
            <a:ext cx="7112000" cy="7874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15" name="b3-t"/>
          <p:cNvSpPr txBox="1"/>
          <p:nvPr/>
        </p:nvSpPr>
        <p:spPr>
          <a:xfrm>
            <a:off x="1066800" y="3860800"/>
            <a:ext cx="665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C ABI 边界（extern "C"，mk_ 前缀）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唯一的稳定接口层：发布后只增不改，旧版本 App 升级内核无需改代码</a:t>
            </a:r>
            <a:endParaRPr lang="en-US" sz="1600" noProof="1"/>
          </a:p>
        </p:txBody>
      </p:sp>
      <p:sp>
        <p:nvSpPr>
          <p:cNvPr id="16" name="ba3"/>
          <p:cNvSpPr/>
          <p:nvPr/>
        </p:nvSpPr>
        <p:spPr>
          <a:xfrm>
            <a:off x="4267200" y="4673600"/>
            <a:ext cx="177800" cy="1524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7" name="b4"/>
          <p:cNvSpPr/>
          <p:nvPr/>
        </p:nvSpPr>
        <p:spPr>
          <a:xfrm>
            <a:off x="812800" y="4851400"/>
            <a:ext cx="7112000" cy="7874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18" name="b4-t"/>
          <p:cNvSpPr txBox="1"/>
          <p:nvPr/>
        </p:nvSpPr>
        <p:spPr>
          <a:xfrm>
            <a:off x="1066800" y="4851400"/>
            <a:ext cx="665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C++ 计算内核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表达式解析 · 符号微分 · 线性代数 · 几何解算 · 公式引擎</a:t>
            </a:r>
            <a:endParaRPr lang="en-US" sz="1600" noProof="1"/>
          </a:p>
        </p:txBody>
      </p:sp>
      <p:sp>
        <p:nvSpPr>
          <p:cNvPr id="19" name="why-label"/>
          <p:cNvSpPr txBox="1"/>
          <p:nvPr/>
        </p:nvSpPr>
        <p:spPr>
          <a:xfrm>
            <a:off x="812800" y="5867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为什么以 C ABI 做边界</a:t>
            </a:r>
            <a:endParaRPr lang="en-US" sz="1300" noProof="1"/>
          </a:p>
        </p:txBody>
      </p:sp>
      <p:sp>
        <p:nvSpPr>
          <p:cNvPr id="20" name="why-t"/>
          <p:cNvSpPr txBox="1"/>
          <p:nvPr/>
        </p:nvSpPr>
        <p:spPr>
          <a:xfrm>
            <a:off x="812800" y="61722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C 是所有平台、所有语言都能直接调用的公共接口，没有 C++ 的符号修饰与 ABI 差异问题。</a:t>
            </a:r>
            <a:endParaRPr lang="en-US" sz="1100" noProof="1"/>
          </a:p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头文件加 ABI 冻结的双重约定，使 SDK 可以被任意第三方长期稳定集成，内核迭代不破坏存量调用方。</a:t>
            </a:r>
            <a:endParaRPr lang="en-US" sz="1100" noProof="1"/>
          </a:p>
        </p:txBody>
      </p:sp>
      <p:sp>
        <p:nvSpPr>
          <p:cNvPr id="21" name="ship-label"/>
          <p:cNvSpPr txBox="1"/>
          <p:nvPr/>
        </p:nvSpPr>
        <p:spPr>
          <a:xfrm>
            <a:off x="8432800" y="1549400"/>
            <a:ext cx="701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各平台交付形态</a:t>
            </a:r>
            <a:endParaRPr lang="en-US" sz="1300" noProof="1"/>
          </a:p>
        </p:txBody>
      </p:sp>
      <p:graphicFrame>
        <p:nvGraphicFramePr>
          <p:cNvPr id="22" name="ship-table"/>
          <p:cNvGraphicFramePr>
            <a:graphicFrameLocks noGrp="1"/>
          </p:cNvGraphicFramePr>
          <p:nvPr/>
        </p:nvGraphicFramePr>
        <p:xfrm>
          <a:off x="8432800" y="1879600"/>
          <a:ext cx="7010400" cy="2895600"/>
        </p:xfrm>
        <a:graphic>
          <a:graphicData uri="http://schemas.openxmlformats.org/drawingml/2006/table">
            <a:tbl>
              <a:tblPr/>
              <a:tblGrid>
                <a:gridCol w="1682496"/>
                <a:gridCol w="2523744"/>
                <a:gridCol w="2804160"/>
              </a:tblGrid>
              <a:tr h="4285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平台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分发渠道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AAR（含 .so）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Maven 仓库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HarmonyOS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HAR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ohpm 私有仓库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iOS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XCFramework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Swift Package / CocoaPods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macOS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XCFramework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Swift Package / Homebrew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DLL / LIB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NuGet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17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Linux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.so / .a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deb / rpm 安装包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23" name="ver-label"/>
          <p:cNvSpPr txBox="1"/>
          <p:nvPr/>
        </p:nvSpPr>
        <p:spPr>
          <a:xfrm>
            <a:off x="8432800" y="5080000"/>
            <a:ext cx="701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版本与兼容承诺</a:t>
            </a:r>
            <a:endParaRPr lang="en-US" sz="1300" noProof="1"/>
          </a:p>
        </p:txBody>
      </p:sp>
      <p:sp>
        <p:nvSpPr>
          <p:cNvPr id="24" name="ver-t"/>
          <p:cNvSpPr txBox="1"/>
          <p:nvPr/>
        </p:nvSpPr>
        <p:spPr>
          <a:xfrm>
            <a:off x="8432800" y="5384800"/>
            <a:ext cx="7010400" cy="175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语义化版本 SemVer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：主版本变更才允许破坏接口</a:t>
            </a:r>
            <a:endParaRPr lang="en-US" sz="1100" noProof="1"/>
          </a:p>
          <a:p>
            <a:pPr>
              <a:lnSpc>
                <a:spcPct val="180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ABI 冻结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：C 接口发布后只新增、不删除、不修改签名</a:t>
            </a:r>
            <a:endParaRPr lang="en-US" sz="1100" noProof="1"/>
          </a:p>
          <a:p>
            <a:pPr>
              <a:lnSpc>
                <a:spcPct val="180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变更评审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：API 调整走 RFC 流程，附带迁移指南</a:t>
            </a:r>
            <a:endParaRPr lang="en-US" sz="1100" noProof="1"/>
          </a:p>
          <a:p>
            <a:pPr>
              <a:lnSpc>
                <a:spcPct val="180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共存期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：新旧大版本并行维护至少 12 个月</a:t>
            </a:r>
            <a:endParaRPr lang="en-US" sz="1100" noProof="1"/>
          </a:p>
        </p:txBody>
      </p:sp>
      <p:sp>
        <p:nvSpPr>
          <p:cNvPr id="25" name="api-band"/>
          <p:cNvSpPr/>
          <p:nvPr/>
        </p:nvSpPr>
        <p:spPr>
          <a:xfrm>
            <a:off x="812800" y="7366000"/>
            <a:ext cx="14630400" cy="8382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26" name="api-label"/>
          <p:cNvSpPr txBox="1"/>
          <p:nvPr/>
        </p:nvSpPr>
        <p:spPr>
          <a:xfrm>
            <a:off x="1117600" y="7366000"/>
            <a:ext cx="152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核心 API 分组</a:t>
            </a:r>
            <a:endParaRPr lang="en-US" sz="1300" noProof="1"/>
          </a:p>
        </p:txBody>
      </p:sp>
      <p:sp>
        <p:nvSpPr>
          <p:cNvPr id="27" name="api-t"/>
          <p:cNvSpPr txBox="1"/>
          <p:nvPr/>
        </p:nvSpPr>
        <p:spPr>
          <a:xfrm>
            <a:off x="2794000" y="7366000"/>
            <a:ext cx="12446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计算：mk_parse · mk_evaluate · mk_differentiate　｜　矩阵：mk_matrix_eigen · mk_matrix_svd</a:t>
            </a:r>
            <a:endParaRPr lang="en-US" sz="1100" noProof="1"/>
          </a:p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测量：mk_measure_start · mk_calibrate · mk_measure_result　｜　公式：mk_formula_search · mk_bind · mk_compose</a:t>
            </a:r>
            <a:endParaRPr lang="en-US" sz="1100" noProof="1"/>
          </a:p>
        </p:txBody>
      </p:sp>
      <p:sp>
        <p:nvSpPr>
          <p:cNvPr id="28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29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开发者支持：Doxygen 自动生成 API 文档；每端随包附最小示例工程；CI 每次构建产出六平台 SDK 包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04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219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计算引擎：解析管线、符号微分与线性代数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pipe-label"/>
          <p:cNvSpPr txBox="1"/>
          <p:nvPr/>
        </p:nvSpPr>
        <p:spPr>
          <a:xfrm>
            <a:off x="812800" y="154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表达式处理管线（手动输入的统一入口）</a:t>
            </a:r>
            <a:endParaRPr lang="en-US" sz="1300" noProof="1"/>
          </a:p>
        </p:txBody>
      </p:sp>
      <p:sp>
        <p:nvSpPr>
          <p:cNvPr id="8" name="s1"/>
          <p:cNvSpPr/>
          <p:nvPr/>
        </p:nvSpPr>
        <p:spPr>
          <a:xfrm>
            <a:off x="812800" y="1879600"/>
            <a:ext cx="711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9" name="s1-t"/>
          <p:cNvSpPr txBox="1"/>
          <p:nvPr/>
        </p:nvSpPr>
        <p:spPr>
          <a:xfrm>
            <a:off x="1066800" y="18796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1</a:t>
            </a: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　输入字符串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键盘、公式库、拍照结果共用同一入口</a:t>
            </a:r>
            <a:endParaRPr lang="en-US" sz="1600" noProof="1"/>
          </a:p>
        </p:txBody>
      </p:sp>
      <p:sp>
        <p:nvSpPr>
          <p:cNvPr id="10" name="sa1"/>
          <p:cNvSpPr/>
          <p:nvPr/>
        </p:nvSpPr>
        <p:spPr>
          <a:xfrm>
            <a:off x="4267200" y="2667000"/>
            <a:ext cx="1778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1" name="s2"/>
          <p:cNvSpPr/>
          <p:nvPr/>
        </p:nvSpPr>
        <p:spPr>
          <a:xfrm>
            <a:off x="812800" y="2844800"/>
            <a:ext cx="711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2" name="s2-t"/>
          <p:cNvSpPr txBox="1"/>
          <p:nvPr/>
        </p:nvSpPr>
        <p:spPr>
          <a:xfrm>
            <a:off x="1066800" y="28448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2</a:t>
            </a: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　词法分析 Tokenizer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数字、变量、函数名、运算符、单位符号</a:t>
            </a:r>
            <a:endParaRPr lang="en-US" sz="1600" noProof="1"/>
          </a:p>
        </p:txBody>
      </p:sp>
      <p:sp>
        <p:nvSpPr>
          <p:cNvPr id="13" name="sa2"/>
          <p:cNvSpPr/>
          <p:nvPr/>
        </p:nvSpPr>
        <p:spPr>
          <a:xfrm>
            <a:off x="4267200" y="3632200"/>
            <a:ext cx="1778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4" name="s3"/>
          <p:cNvSpPr/>
          <p:nvPr/>
        </p:nvSpPr>
        <p:spPr>
          <a:xfrm>
            <a:off x="812800" y="3810000"/>
            <a:ext cx="711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5" name="s3-t"/>
          <p:cNvSpPr txBox="1"/>
          <p:nvPr/>
        </p:nvSpPr>
        <p:spPr>
          <a:xfrm>
            <a:off x="1066800" y="38100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3</a:t>
            </a: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　语法分析 → AST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递归下降解析为语法树，错误定位到具体字符</a:t>
            </a:r>
            <a:endParaRPr lang="en-US" sz="1600" noProof="1"/>
          </a:p>
        </p:txBody>
      </p:sp>
      <p:sp>
        <p:nvSpPr>
          <p:cNvPr id="16" name="sa3"/>
          <p:cNvSpPr/>
          <p:nvPr/>
        </p:nvSpPr>
        <p:spPr>
          <a:xfrm>
            <a:off x="4267200" y="4597400"/>
            <a:ext cx="1778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17" name="s4"/>
          <p:cNvSpPr/>
          <p:nvPr/>
        </p:nvSpPr>
        <p:spPr>
          <a:xfrm>
            <a:off x="812800" y="4775200"/>
            <a:ext cx="711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8" name="s4-t"/>
          <p:cNvSpPr txBox="1"/>
          <p:nvPr/>
        </p:nvSpPr>
        <p:spPr>
          <a:xfrm>
            <a:off x="1066800" y="47752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4</a:t>
            </a: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　静态校验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定义域、量纲一致性、参数取值范围</a:t>
            </a:r>
            <a:endParaRPr lang="en-US" sz="1600" noProof="1"/>
          </a:p>
        </p:txBody>
      </p:sp>
      <p:sp>
        <p:nvSpPr>
          <p:cNvPr id="19" name="sa4"/>
          <p:cNvSpPr/>
          <p:nvPr/>
        </p:nvSpPr>
        <p:spPr>
          <a:xfrm>
            <a:off x="4267200" y="5562600"/>
            <a:ext cx="1778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20" name="s5"/>
          <p:cNvSpPr/>
          <p:nvPr/>
        </p:nvSpPr>
        <p:spPr>
          <a:xfrm>
            <a:off x="812800" y="5740400"/>
            <a:ext cx="7112000" cy="7620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21" name="s5-t"/>
          <p:cNvSpPr txBox="1"/>
          <p:nvPr/>
        </p:nvSpPr>
        <p:spPr>
          <a:xfrm>
            <a:off x="1066800" y="57404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F7F5EF"/>
                </a:solidFill>
                <a:latin typeface="MiSans"/>
                <a:ea typeface="MiSans"/>
              </a:rPr>
              <a:t>5</a:t>
            </a: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　求值 / 符号微分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AST 直接求值，或对 AST 做微分变换输出解析式</a:t>
            </a:r>
            <a:endParaRPr lang="en-US" sz="1600" noProof="1"/>
          </a:p>
        </p:txBody>
      </p:sp>
      <p:sp>
        <p:nvSpPr>
          <p:cNvPr id="22" name="sa5"/>
          <p:cNvSpPr/>
          <p:nvPr/>
        </p:nvSpPr>
        <p:spPr>
          <a:xfrm>
            <a:off x="4267200" y="6527800"/>
            <a:ext cx="1778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736C"/>
          </a:solidFill>
          <a:ln>
            <a:noFill/>
          </a:ln>
        </p:spPr>
      </p:sp>
      <p:sp>
        <p:nvSpPr>
          <p:cNvPr id="23" name="s6"/>
          <p:cNvSpPr/>
          <p:nvPr/>
        </p:nvSpPr>
        <p:spPr>
          <a:xfrm>
            <a:off x="812800" y="6705600"/>
            <a:ext cx="711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4" name="s6-t"/>
          <p:cNvSpPr txBox="1"/>
          <p:nvPr/>
        </p:nvSpPr>
        <p:spPr>
          <a:xfrm>
            <a:off x="1066800" y="6705600"/>
            <a:ext cx="6654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200" noProof="1" b="1">
                <a:solidFill>
                  <a:srgbClr val="D97A2B"/>
                </a:solidFill>
                <a:latin typeface="MiSans"/>
                <a:ea typeface="MiSans"/>
              </a:rPr>
              <a:t>6</a:t>
            </a:r>
            <a:r>
              <a:rPr lang="en-US" sz="1250" noProof="1" b="1">
                <a:solidFill>
                  <a:srgbClr val="1E2421"/>
                </a:solidFill>
                <a:latin typeface="MiSans"/>
                <a:ea typeface="MiSans"/>
              </a:rPr>
              <a:t>　结果输出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精确分数 / 高精度小数 / 分步计算过程</a:t>
            </a:r>
            <a:endParaRPr lang="en-US" sz="1600" noProof="1"/>
          </a:p>
        </p:txBody>
      </p:sp>
      <p:sp>
        <p:nvSpPr>
          <p:cNvPr id="25" name="la-title"/>
          <p:cNvSpPr txBox="1"/>
          <p:nvPr/>
        </p:nvSpPr>
        <p:spPr>
          <a:xfrm>
            <a:off x="8432800" y="1549400"/>
            <a:ext cx="701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线性代数能力（Eigen 实现）</a:t>
            </a:r>
            <a:endParaRPr lang="en-US" sz="1300" noProof="1"/>
          </a:p>
        </p:txBody>
      </p:sp>
      <p:graphicFrame>
        <p:nvGraphicFramePr>
          <p:cNvPr id="26" name="la-table"/>
          <p:cNvGraphicFramePr>
            <a:graphicFrameLocks noGrp="1"/>
          </p:cNvGraphicFramePr>
          <p:nvPr/>
        </p:nvGraphicFramePr>
        <p:xfrm>
          <a:off x="8432800" y="1879600"/>
          <a:ext cx="7010400" cy="3048000"/>
        </p:xfrm>
        <a:graphic>
          <a:graphicData uri="http://schemas.openxmlformats.org/drawingml/2006/table">
            <a:tbl>
              <a:tblPr/>
              <a:tblGrid>
                <a:gridCol w="3084576"/>
                <a:gridCol w="3925824"/>
              </a:tblGrid>
              <a:tr h="4876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算法 / 实现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转置 · 乘法 · 行列式 · 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Eigen 直接实现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特征值与特征向量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QR 迭代；对称矩阵用 Jacobi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范数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L1 · L2 · Frobenius · 无穷范数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矩阵分解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LU · QR · SVD · Cholesky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线性方程组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列主元消元 / QR 最小二乘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num-title"/>
          <p:cNvSpPr txBox="1"/>
          <p:nvPr/>
        </p:nvSpPr>
        <p:spPr>
          <a:xfrm>
            <a:off x="8432800" y="5232400"/>
            <a:ext cx="701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初等函数与数值方法</a:t>
            </a:r>
            <a:endParaRPr lang="en-US" sz="1300" noProof="1"/>
          </a:p>
        </p:txBody>
      </p:sp>
      <p:sp>
        <p:nvSpPr>
          <p:cNvPr id="28" name="num-body"/>
          <p:cNvSpPr txBox="1"/>
          <p:nvPr/>
        </p:nvSpPr>
        <p:spPr>
          <a:xfrm>
            <a:off x="8432800" y="5588000"/>
            <a:ext cx="7010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初等函数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：三角 / 反三角、指数对数、双曲、Gamma、Beta、误差函数</a:t>
            </a:r>
            <a:endParaRPr lang="en-US" sz="1150" noProof="1"/>
          </a:p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数值方法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：牛顿迭代求根、自适应辛普森积分、龙格-库塔解常微分方程</a:t>
            </a:r>
            <a:endParaRPr lang="en-US" sz="1150" noProof="1"/>
          </a:p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求导策略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：符号微分输出解析式，中心差分数值微分作为兜底</a:t>
            </a:r>
            <a:endParaRPr lang="en-US" sz="1150" noProof="1"/>
          </a:p>
        </p:txBody>
      </p:sp>
      <p:sp>
        <p:nvSpPr>
          <p:cNvPr id="29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30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质量保障：每个算子以 Python（SymPy / NumPy）生成对照用例，CI 自动回归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05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219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拍照测量：端侧轻量模型 + 几何解算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flow-label"/>
          <p:cNvSpPr txBox="1"/>
          <p:nvPr/>
        </p:nvSpPr>
        <p:spPr>
          <a:xfrm>
            <a:off x="812800" y="1549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测量流程（长度 / 面积 / 高度 / 体积共用）</a:t>
            </a:r>
            <a:endParaRPr lang="en-US" sz="1300" noProof="1"/>
          </a:p>
        </p:txBody>
      </p:sp>
      <p:sp>
        <p:nvSpPr>
          <p:cNvPr id="8" name="fl1"/>
          <p:cNvSpPr/>
          <p:nvPr/>
        </p:nvSpPr>
        <p:spPr>
          <a:xfrm>
            <a:off x="812800" y="1879600"/>
            <a:ext cx="2641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9" name="fl1-t"/>
          <p:cNvSpPr txBox="1"/>
          <p:nvPr/>
        </p:nvSpPr>
        <p:spPr>
          <a:xfrm>
            <a:off x="990600" y="20066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D97A2B"/>
                </a:solidFill>
                <a:latin typeface="MiSans"/>
                <a:ea typeface="MiSans"/>
              </a:rPr>
              <a:t>STEP 1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拍照采集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单张或多角度拍摄目标物体</a:t>
            </a:r>
            <a:endParaRPr lang="en-US" sz="1600" noProof="1"/>
          </a:p>
        </p:txBody>
      </p:sp>
      <p:sp>
        <p:nvSpPr>
          <p:cNvPr id="10" name="fa1"/>
          <p:cNvSpPr/>
          <p:nvPr/>
        </p:nvSpPr>
        <p:spPr>
          <a:xfrm>
            <a:off x="3530600" y="2489200"/>
            <a:ext cx="254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1" name="fl2"/>
          <p:cNvSpPr/>
          <p:nvPr/>
        </p:nvSpPr>
        <p:spPr>
          <a:xfrm>
            <a:off x="3860800" y="1879600"/>
            <a:ext cx="2641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2" name="fl2-t"/>
          <p:cNvSpPr txBox="1"/>
          <p:nvPr/>
        </p:nvSpPr>
        <p:spPr>
          <a:xfrm>
            <a:off x="4038600" y="20066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D97A2B"/>
                </a:solidFill>
                <a:latin typeface="MiSans"/>
                <a:ea typeface="MiSans"/>
              </a:rPr>
              <a:t>STEP 2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参照物标定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A4 纸 / 硬币 / 信用卡等已知尺寸物体</a:t>
            </a:r>
            <a:endParaRPr lang="en-US" sz="1600" noProof="1"/>
          </a:p>
        </p:txBody>
      </p:sp>
      <p:sp>
        <p:nvSpPr>
          <p:cNvPr id="13" name="fa2"/>
          <p:cNvSpPr/>
          <p:nvPr/>
        </p:nvSpPr>
        <p:spPr>
          <a:xfrm>
            <a:off x="6578600" y="2489200"/>
            <a:ext cx="254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4" name="fl3"/>
          <p:cNvSpPr/>
          <p:nvPr/>
        </p:nvSpPr>
        <p:spPr>
          <a:xfrm>
            <a:off x="6908800" y="1879600"/>
            <a:ext cx="2641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5" name="fl3-t"/>
          <p:cNvSpPr txBox="1"/>
          <p:nvPr/>
        </p:nvSpPr>
        <p:spPr>
          <a:xfrm>
            <a:off x="7086600" y="20066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D97A2B"/>
                </a:solidFill>
                <a:latin typeface="MiSans"/>
                <a:ea typeface="MiSans"/>
              </a:rPr>
              <a:t>STEP 3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轻量模型推理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目标检测 + 区域分割 + 深度估计</a:t>
            </a:r>
            <a:endParaRPr lang="en-US" sz="1600" noProof="1"/>
          </a:p>
        </p:txBody>
      </p:sp>
      <p:sp>
        <p:nvSpPr>
          <p:cNvPr id="16" name="fa3"/>
          <p:cNvSpPr/>
          <p:nvPr/>
        </p:nvSpPr>
        <p:spPr>
          <a:xfrm>
            <a:off x="9626600" y="2489200"/>
            <a:ext cx="254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17" name="fl4"/>
          <p:cNvSpPr/>
          <p:nvPr/>
        </p:nvSpPr>
        <p:spPr>
          <a:xfrm>
            <a:off x="9956800" y="1879600"/>
            <a:ext cx="2641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8" name="fl4-t"/>
          <p:cNvSpPr txBox="1"/>
          <p:nvPr/>
        </p:nvSpPr>
        <p:spPr>
          <a:xfrm>
            <a:off x="10134600" y="20066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D97A2B"/>
                </a:solidFill>
                <a:latin typeface="MiSans"/>
                <a:ea typeface="MiSans"/>
              </a:rPr>
              <a:t>STEP 4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几何解算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单应变换 / 相似三角形 / 多视角重建</a:t>
            </a:r>
            <a:endParaRPr lang="en-US" sz="1600" noProof="1"/>
          </a:p>
        </p:txBody>
      </p:sp>
      <p:sp>
        <p:nvSpPr>
          <p:cNvPr id="19" name="fa4"/>
          <p:cNvSpPr/>
          <p:nvPr/>
        </p:nvSpPr>
        <p:spPr>
          <a:xfrm>
            <a:off x="12674600" y="2489200"/>
            <a:ext cx="254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A2B"/>
          </a:solidFill>
          <a:ln>
            <a:noFill/>
          </a:ln>
        </p:spPr>
      </p:sp>
      <p:sp>
        <p:nvSpPr>
          <p:cNvPr id="20" name="fl5"/>
          <p:cNvSpPr/>
          <p:nvPr/>
        </p:nvSpPr>
        <p:spPr>
          <a:xfrm>
            <a:off x="13004800" y="1879600"/>
            <a:ext cx="2438400" cy="14732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21" name="fl5-t"/>
          <p:cNvSpPr txBox="1"/>
          <p:nvPr/>
        </p:nvSpPr>
        <p:spPr>
          <a:xfrm>
            <a:off x="13182600" y="2006600"/>
            <a:ext cx="2082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F7F5EF"/>
                </a:solidFill>
                <a:latin typeface="MiSans"/>
                <a:ea typeface="MiSans"/>
              </a:rPr>
              <a:t>STEP 5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测量输出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长度 · 面积 · 高度 · 体积，附误差区间</a:t>
            </a:r>
            <a:endParaRPr lang="en-US" sz="1600" noProof="1"/>
          </a:p>
        </p:txBody>
      </p:sp>
      <p:sp>
        <p:nvSpPr>
          <p:cNvPr id="22" name="model-title"/>
          <p:cNvSpPr txBox="1"/>
          <p:nvPr/>
        </p:nvSpPr>
        <p:spPr>
          <a:xfrm>
            <a:off x="812800" y="375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模型选型 —— 不引入大模型</a:t>
            </a:r>
            <a:endParaRPr lang="en-US" sz="1300" noProof="1"/>
          </a:p>
        </p:txBody>
      </p:sp>
      <p:graphicFrame>
        <p:nvGraphicFramePr>
          <p:cNvPr id="23" name="model-table"/>
          <p:cNvGraphicFramePr>
            <a:graphicFrameLocks noGrp="1"/>
          </p:cNvGraphicFramePr>
          <p:nvPr/>
        </p:nvGraphicFramePr>
        <p:xfrm>
          <a:off x="812800" y="4089400"/>
          <a:ext cx="14630400" cy="2921000"/>
        </p:xfrm>
        <a:graphic>
          <a:graphicData uri="http://schemas.openxmlformats.org/drawingml/2006/table">
            <a:tbl>
              <a:tblPr/>
              <a:tblGrid>
                <a:gridCol w="3511296"/>
                <a:gridCol w="5266944"/>
                <a:gridCol w="1755648"/>
                <a:gridCol w="4096512"/>
              </a:tblGrid>
              <a:tr h="5257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模型 / 算法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体积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推理框架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</a:tr>
              <a:tr h="598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目标与参照物检测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NanoDet / YOLOv8n（自训练小模型）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≈ 4–8 MB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NCNN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区域分割（面积 / 轮廓）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PP-LiteSeg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≈ 1 MB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ONNX Runtime Mobile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98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深度估计（高度 / 体积）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MiDaS-Small 级轻量网络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≈ 8 MB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NCNN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边缘与直线提取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OpenCV 传统算法（Canny / Hough）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无模型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——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24" name="note-band"/>
          <p:cNvSpPr/>
          <p:nvPr/>
        </p:nvSpPr>
        <p:spPr>
          <a:xfrm>
            <a:off x="812800" y="7315200"/>
            <a:ext cx="14630400" cy="8636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25" name="note-bar"/>
          <p:cNvSpPr/>
          <p:nvPr/>
        </p:nvSpPr>
        <p:spPr>
          <a:xfrm>
            <a:off x="812800" y="7315200"/>
            <a:ext cx="63500" cy="8636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26" name="note-t"/>
          <p:cNvSpPr txBox="1"/>
          <p:nvPr/>
        </p:nvSpPr>
        <p:spPr>
          <a:xfrm>
            <a:off x="1092200" y="7315200"/>
            <a:ext cx="14097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1E2421"/>
                </a:solidFill>
                <a:latin typeface="MiSans"/>
                <a:ea typeface="MiSans"/>
              </a:rPr>
              <a:t>设计约束</a:t>
            </a:r>
            <a:r>
              <a:rPr lang="en-US" sz="1150" noProof="1">
                <a:solidFill>
                  <a:srgbClr val="1E2421"/>
                </a:solidFill>
                <a:latin typeface="MiSans"/>
                <a:ea typeface="MiSans"/>
              </a:rPr>
              <a:t>：全部模型端侧离线运行，总量 ≤ 15 MB；测量精度以参照物标定为前提，结果一律附带误差区间；体积测量引导用户多角度拍摄后重建（需设备硬件支持，低端设备提供手动输入估算）。</a:t>
            </a:r>
            <a:endParaRPr lang="en-US" sz="1150" noProof="1"/>
          </a:p>
        </p:txBody>
      </p:sp>
      <p:sp>
        <p:nvSpPr>
          <p:cNvPr id="27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28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降级策略：无参照物时仅给出像素级相对测量并明确提示不可换算真实尺寸；深度能力不足的设备以三角测高、手动输入长宽高的方式完成体积估算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06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219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公式库体系：五大分类与参数化引擎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c1"/>
          <p:cNvSpPr/>
          <p:nvPr/>
        </p:nvSpPr>
        <p:spPr>
          <a:xfrm>
            <a:off x="812800" y="1676400"/>
            <a:ext cx="46736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8" name="c1-head"/>
          <p:cNvSpPr txBox="1"/>
          <p:nvPr/>
        </p:nvSpPr>
        <p:spPr>
          <a:xfrm>
            <a:off x="1066800" y="18542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2421"/>
                </a:solidFill>
                <a:latin typeface="MiSans"/>
                <a:ea typeface="MiSans"/>
              </a:rPr>
              <a:t>一般数学</a:t>
            </a: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　约 80 条</a:t>
            </a:r>
            <a:endParaRPr lang="en-US" sz="1600" noProof="1"/>
          </a:p>
        </p:txBody>
      </p:sp>
      <p:sp>
        <p:nvSpPr>
          <p:cNvPr id="9" name="c1-rule"/>
          <p:cNvSpPr/>
          <p:nvPr/>
        </p:nvSpPr>
        <p:spPr>
          <a:xfrm>
            <a:off x="1066800" y="2235200"/>
            <a:ext cx="508000" cy="381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1-f"/>
              <p:cNvSpPr txBox="1"/>
              <p:nvPr/>
            </p:nvSpPr>
            <p:spPr>
              <a:xfrm>
                <a:off x="1066800" y="24130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-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±</m:t>
                        </m:r>
                        <m:rad>
                          <m:deg>
                            <m:r>
                              <m:t xml:space="preserve"> </m:t>
                            </m:r>
                          </m:deg>
                          <m:e>
                            <m:sSup>
                              <m:sSupPr>
                                <m:ctrlPr>
                                  <a:rPr lang="en-US" sz="1400" noProof="1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</m:ctrlPr>
                              </m:sSupPr>
                              <m:e>
                                <m:r>
                                  <a:rPr lang="en-US" sz="1400" noProof="1" i="1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en-US" sz="1400" noProof="1" i="0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-</m:t>
                            </m:r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4</m:t>
                            </m:r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a</m:t>
                            </m:r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c</m:t>
                            </m:r>
                          </m:e>
                        </m:rad>
                      </m:num>
                      <m:den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</m:sup>
                    </m:sSup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+</m:t>
                    </m:r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b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</m:sup>
                    </m:sSup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c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log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sub>
                    </m:sSub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M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N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log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sub>
                    </m:sSub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M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log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sub>
                    </m:sSub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N</m:t>
                    </m:r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0" name="c1-f"/>
              <p:cNvSpPr txBox="1"/>
              <p:nvPr/>
            </p:nvSpPr>
            <p:spPr>
              <a:xfrm>
                <a:off x="1066800" y="24130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\(x=\dfrac{-b\pm\sqrt{b^{2}-4ac}}{2a}\)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\(a^{2}+b^{2}=c^{2}\)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\(\log_{a}(MN)=\log_{a}M+\log_{a}N\)</a:t>
                </a:r>
                <a:endParaRPr lang="en-US" sz="1400" noProof="1"/>
              </a:p>
            </p:txBody>
          </p:sp>
        </mc:Fallback>
      </mc:AlternateContent>
      <p:sp>
        <p:nvSpPr>
          <p:cNvPr id="11" name="c2"/>
          <p:cNvSpPr/>
          <p:nvPr/>
        </p:nvSpPr>
        <p:spPr>
          <a:xfrm>
            <a:off x="5689600" y="1676400"/>
            <a:ext cx="46736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2" name="c2-head"/>
          <p:cNvSpPr txBox="1"/>
          <p:nvPr/>
        </p:nvSpPr>
        <p:spPr>
          <a:xfrm>
            <a:off x="5943600" y="18542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2421"/>
                </a:solidFill>
                <a:latin typeface="MiSans"/>
                <a:ea typeface="MiSans"/>
              </a:rPr>
              <a:t>概率统计</a:t>
            </a: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　约 70 条</a:t>
            </a:r>
            <a:endParaRPr lang="en-US" sz="1600" noProof="1"/>
          </a:p>
        </p:txBody>
      </p:sp>
      <p:sp>
        <p:nvSpPr>
          <p:cNvPr id="13" name="c2-rule"/>
          <p:cNvSpPr/>
          <p:nvPr/>
        </p:nvSpPr>
        <p:spPr>
          <a:xfrm>
            <a:off x="5943600" y="2235200"/>
            <a:ext cx="508000" cy="381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2-f"/>
              <p:cNvSpPr txBox="1"/>
              <p:nvPr/>
            </p:nvSpPr>
            <p:spPr>
              <a:xfrm>
                <a:off x="5943600" y="24130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P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∣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B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∣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 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</m:num>
                      <m:den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P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σ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</m:sup>
                    </m:sSup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1</m:t>
                        </m:r>
                      </m:num>
                      <m:den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1</m:t>
                        </m:r>
                      </m:sub>
                      <m:sup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n</m:t>
                        </m:r>
                      </m:sup>
                      <m:e/>
                    </m:nary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x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i</m:t>
                        </m:r>
                      </m:sub>
                    </m:sSub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-</m:t>
                    </m:r>
                    <m:acc>
                      <m:accPr>
                        <m:chr m:val="̄"/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acc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x</m:t>
                        </m:r>
                      </m:e>
                    </m:acc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f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1</m:t>
                        </m:r>
                      </m:num>
                      <m:den>
                        <m:rad>
                          <m:deg>
                            <m:r>
                              <m:t xml:space="preserve"> </m:t>
                            </m:r>
                          </m:deg>
                          <m:e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2</m:t>
                            </m:r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π</m:t>
                            </m:r>
                          </m:e>
                        </m:rad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 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σ</m:t>
                        </m:r>
                      </m:den>
                    </m:f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e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-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(</m:t>
                            </m:r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x</m:t>
                            </m:r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-</m:t>
                            </m:r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μ</m:t>
                            </m:r>
                            <m:sSup>
                              <m:sSupPr>
                                <m:ctrlPr>
                                  <a:rPr lang="en-US" sz="1400" noProof="1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</m:ctrlPr>
                              </m:sSupPr>
                              <m:e>
                                <m:r>
                                  <a:rPr lang="en-US" sz="1400" noProof="1" i="0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noProof="1" i="0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1400" noProof="1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</m:ctrlPr>
                              </m:sSupPr>
                              <m:e>
                                <m:r>
                                  <a:rPr lang="en-US" sz="1400" noProof="1" i="0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1400" noProof="1" i="0">
                                    <a:solidFill>
                                      <a:srgbClr val="1E2421"/>
                                    </a:solidFill>
                                    <a:latin typeface="MiSans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4" name="c2-f"/>
              <p:cNvSpPr txBox="1"/>
              <p:nvPr/>
            </p:nvSpPr>
            <p:spPr>
              <a:xfrm>
                <a:off x="5943600" y="24130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\(P(A\mid B)=\dfrac{P(B\mid A)\,P(A)}{P(B)}\)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\(\sigma^{2}=\dfrac{1}{n}\sum_{i=1}^{n}(x_{i}-\bar{x})^{2}\)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\(f(x)=\dfrac{1}{\sqrt{2\pi}\,\sigma}e^{-\frac{(x-\mu)^{2}}{2\sigma^{2}}}\)</a:t>
                </a:r>
                <a:endParaRPr lang="en-US" sz="1400" noProof="1"/>
              </a:p>
            </p:txBody>
          </p:sp>
        </mc:Fallback>
      </mc:AlternateContent>
      <p:sp>
        <p:nvSpPr>
          <p:cNvPr id="15" name="c3"/>
          <p:cNvSpPr/>
          <p:nvPr/>
        </p:nvSpPr>
        <p:spPr>
          <a:xfrm>
            <a:off x="10566400" y="1676400"/>
            <a:ext cx="48768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6" name="c3-head"/>
          <p:cNvSpPr txBox="1"/>
          <p:nvPr/>
        </p:nvSpPr>
        <p:spPr>
          <a:xfrm>
            <a:off x="10820400" y="1854200"/>
            <a:ext cx="4368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2421"/>
                </a:solidFill>
                <a:latin typeface="MiSans"/>
                <a:ea typeface="MiSans"/>
              </a:rPr>
              <a:t>数据分析</a:t>
            </a: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　约 60 条</a:t>
            </a:r>
            <a:endParaRPr lang="en-US" sz="1600" noProof="1"/>
          </a:p>
        </p:txBody>
      </p:sp>
      <p:sp>
        <p:nvSpPr>
          <p:cNvPr id="17" name="c3-rule"/>
          <p:cNvSpPr/>
          <p:nvPr/>
        </p:nvSpPr>
        <p:spPr>
          <a:xfrm>
            <a:off x="10820400" y="2235200"/>
            <a:ext cx="508000" cy="381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3-f"/>
              <p:cNvSpPr txBox="1"/>
              <p:nvPr/>
            </p:nvSpPr>
            <p:spPr>
              <a:xfrm>
                <a:off x="10820400" y="2413000"/>
                <a:ext cx="43688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14:m>
                  <m:oMath>
                    <m:acc>
                      <m:accPr>
                        <m:chr m:val="̂"/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acc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y</m:t>
                        </m:r>
                      </m:e>
                    </m:acc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+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b</m:t>
                    </m:r>
                  </m:oMath>
                </a14:m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（最小二乘拟合）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r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c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o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v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X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,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Y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400" noProof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</m:ctrlPr>
                          </m:sSubPr>
                          <m:e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σ</m:t>
                            </m:r>
                          </m:e>
                          <m:sub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X</m:t>
                            </m:r>
                          </m:sub>
                        </m:sSub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 </m:t>
                        </m:r>
                        <m:sSub>
                          <m:sSubPr>
                            <m:ctrlPr>
                              <a:rPr lang="en-US" sz="1400" noProof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</m:ctrlPr>
                          </m:sSubPr>
                          <m:e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σ</m:t>
                            </m:r>
                          </m:e>
                          <m:sub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Y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移动平均 · 加权平均 · 中位数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8" name="c3-f"/>
              <p:cNvSpPr txBox="1"/>
              <p:nvPr/>
            </p:nvSpPr>
            <p:spPr>
              <a:xfrm>
                <a:off x="10820400" y="2413000"/>
                <a:ext cx="43688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\(\hat{y}=ax+b\)（最小二乘拟合）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\(r=\dfrac{\mathrm{cov}(X,Y)}{\sigma_{X}\,\sigma_{Y}}\)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移动平均 · 加权平均 · 中位数</a:t>
                </a:r>
                <a:endParaRPr lang="en-US" sz="1400" noProof="1"/>
              </a:p>
            </p:txBody>
          </p:sp>
        </mc:Fallback>
      </mc:AlternateContent>
      <p:sp>
        <p:nvSpPr>
          <p:cNvPr id="19" name="c4"/>
          <p:cNvSpPr/>
          <p:nvPr/>
        </p:nvSpPr>
        <p:spPr>
          <a:xfrm>
            <a:off x="812800" y="4521200"/>
            <a:ext cx="46736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0" name="c4-head"/>
          <p:cNvSpPr txBox="1"/>
          <p:nvPr/>
        </p:nvSpPr>
        <p:spPr>
          <a:xfrm>
            <a:off x="1066800" y="4699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2421"/>
                </a:solidFill>
                <a:latin typeface="MiSans"/>
                <a:ea typeface="MiSans"/>
              </a:rPr>
              <a:t>线性代数</a:t>
            </a: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　约 50 条</a:t>
            </a:r>
            <a:endParaRPr lang="en-US" sz="1600" noProof="1"/>
          </a:p>
        </p:txBody>
      </p:sp>
      <p:sp>
        <p:nvSpPr>
          <p:cNvPr id="21" name="c4-rule"/>
          <p:cNvSpPr/>
          <p:nvPr/>
        </p:nvSpPr>
        <p:spPr>
          <a:xfrm>
            <a:off x="1066800" y="5080000"/>
            <a:ext cx="508000" cy="381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4-f"/>
              <p:cNvSpPr txBox="1"/>
              <p:nvPr/>
            </p:nvSpPr>
            <p:spPr>
              <a:xfrm>
                <a:off x="1066800" y="52578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det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-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λ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I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0</m:t>
                    </m:r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∥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sSub>
                      <m:sSub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∥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F</m:t>
                        </m:r>
                      </m:sub>
                    </m:sSub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ad>
                      <m:deg>
                        <m:r>
                          <m:t xml:space="preserve"> </m:t>
                        </m:r>
                      </m:deg>
                      <m:e>
                        <m:nary>
                          <m:naryPr>
                            <m:chr m:val="∑"/>
                            <m:limLoc m:val="undOvr"/>
                            <m:supHide m:val="1"/>
                            <m:ctrlPr>
                              <a:rPr lang="en-US" sz="1400" noProof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</m:ctrlPr>
                          </m:naryPr>
                          <m:sub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i</m:t>
                            </m:r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,</m:t>
                            </m:r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j</m:t>
                            </m:r>
                          </m:sub>
                          <m:sup/>
                          <m:e/>
                        </m:nary>
                        <m:sSubSup>
                          <m:sSubSupPr>
                            <m:ctrlPr>
                              <a:rPr lang="en-US" sz="1400" noProof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</m:ctrlPr>
                          </m:sSubSupPr>
                          <m:e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a</m:t>
                            </m:r>
                          </m:e>
                          <m:sub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i</m:t>
                            </m:r>
                            <m:r>
                              <a:rPr lang="en-US" sz="1400" noProof="1" i="1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j</m:t>
                            </m:r>
                          </m:sub>
                          <m:sup>
                            <m:r>
                              <a:rPr lang="en-US" sz="1400" noProof="1" i="0">
                                <a:solidFill>
                                  <a:srgbClr val="1E2421"/>
                                </a:solidFill>
                                <a:latin typeface="MiSans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L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U</m:t>
                    </m:r>
                  </m:oMath>
                </a14:m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，</a:t>
                </a:r>
                <a14:m>
                  <m:oMath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Q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R</m:t>
                    </m:r>
                  </m:oMath>
                </a14:m>
                <a:endParaRPr lang="en-US" sz="1400" noProof="1"/>
              </a:p>
            </p:txBody>
          </p:sp>
        </mc:Choice>
        <mc:Fallback xmlns="">
          <p:sp>
            <p:nvSpPr>
              <p:cNvPr id="22" name="c4-f"/>
              <p:cNvSpPr txBox="1"/>
              <p:nvPr/>
            </p:nvSpPr>
            <p:spPr>
              <a:xfrm>
                <a:off x="1066800" y="52578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\(\det(A-\lambda I)=0\)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\(\|A\|_{F}=\sqrt{\sum_{i,j}a_{ij}^{2}}\)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\(A=LU\)，\(A=QR\)</a:t>
                </a:r>
                <a:endParaRPr lang="en-US" sz="1400" noProof="1"/>
              </a:p>
            </p:txBody>
          </p:sp>
        </mc:Fallback>
      </mc:AlternateContent>
      <p:sp>
        <p:nvSpPr>
          <p:cNvPr id="23" name="c5"/>
          <p:cNvSpPr/>
          <p:nvPr/>
        </p:nvSpPr>
        <p:spPr>
          <a:xfrm>
            <a:off x="5689600" y="4521200"/>
            <a:ext cx="4673600" cy="259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4" name="c5-head"/>
          <p:cNvSpPr txBox="1"/>
          <p:nvPr/>
        </p:nvSpPr>
        <p:spPr>
          <a:xfrm>
            <a:off x="5943600" y="4699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2421"/>
                </a:solidFill>
                <a:latin typeface="MiSans"/>
                <a:ea typeface="MiSans"/>
              </a:rPr>
              <a:t>微积分</a:t>
            </a: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　约 60 条</a:t>
            </a:r>
            <a:endParaRPr lang="en-US" sz="1600" noProof="1"/>
          </a:p>
        </p:txBody>
      </p:sp>
      <p:sp>
        <p:nvSpPr>
          <p:cNvPr id="25" name="c5-rule"/>
          <p:cNvSpPr/>
          <p:nvPr/>
        </p:nvSpPr>
        <p:spPr>
          <a:xfrm>
            <a:off x="5943600" y="5080000"/>
            <a:ext cx="508000" cy="381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5-f"/>
              <p:cNvSpPr txBox="1"/>
              <p:nvPr/>
            </p:nvSpPr>
            <p:spPr>
              <a:xfrm>
                <a:off x="5943600" y="52578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14:m>
                  <m:oMath>
                    <m:sSup>
                      <m:sSup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f</m:t>
                        </m:r>
                      </m:e>
                      <m:sup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′</m:t>
                        </m:r>
                      </m:sup>
                    </m:sSup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limLow>
                      <m:limLowPr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limLowPr>
                      <m:e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lim</m:t>
                        </m:r>
                      </m:e>
                      <m:lim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h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→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f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x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+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h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-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f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(</m:t>
                        </m:r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x</m:t>
                        </m:r>
                        <m:r>
                          <a:rPr lang="en-US" sz="1400" noProof="1" i="0">
                            <a:solidFill>
                              <a:srgbClr val="1E2421"/>
                            </a:solidFill>
                            <a:latin typeface="MiSans"/>
                          </a:rPr>
                          <m:t>)</m:t>
                        </m:r>
                      </m:num>
                      <m:den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h</m:t>
                        </m:r>
                      </m:den>
                    </m:f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14:m>
                  <m:oMath>
                    <m:nary>
                      <m:naryPr>
                        <m:chr m:val="∫"/>
                        <m:limLoc m:val="subSup"/>
                        <m:ctrlPr>
                          <a:rPr lang="en-US" sz="1400" noProof="1">
                            <a:solidFill>
                              <a:srgbClr val="1E2421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a</m:t>
                        </m:r>
                      </m:sub>
                      <m:sup>
                        <m:r>
                          <a:rPr lang="en-US" sz="1400" noProof="1" i="1">
                            <a:solidFill>
                              <a:srgbClr val="1E2421"/>
                            </a:solidFill>
                            <a:latin typeface="MiSans"/>
                          </a:rPr>
                          <m:t>b</m:t>
                        </m:r>
                      </m:sup>
                      <m:e/>
                    </m:nary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f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 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d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x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=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F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b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-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F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(</m:t>
                    </m:r>
                    <m:r>
                      <a:rPr lang="en-US" sz="1400" noProof="1" i="1">
                        <a:solidFill>
                          <a:srgbClr val="1E2421"/>
                        </a:solidFill>
                        <a:latin typeface="MiSans"/>
                      </a:rPr>
                      <m:t>a</m:t>
                    </m:r>
                    <m:r>
                      <a:rPr lang="en-US" sz="1400" noProof="1" i="0">
                        <a:solidFill>
                          <a:srgbClr val="1E2421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泰勒展开 · 洛必达法则</a:t>
                </a:r>
                <a:endParaRPr lang="en-US" sz="1400" noProof="1"/>
              </a:p>
            </p:txBody>
          </p:sp>
        </mc:Choice>
        <mc:Fallback xmlns="">
          <p:sp>
            <p:nvSpPr>
              <p:cNvPr id="26" name="c5-f"/>
              <p:cNvSpPr txBox="1"/>
              <p:nvPr/>
            </p:nvSpPr>
            <p:spPr>
              <a:xfrm>
                <a:off x="5943600" y="5257800"/>
                <a:ext cx="4165600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\(f'(x)=\lim_{h\to0}\dfrac{f(x+h)-f(x)}{h}\)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\(\int_{a}^{b}f(x)\,\mathrm{d}x=F(b)-F(a)\)</a:t>
                </a:r>
                <a:endParaRPr lang="en-US" sz="1400" noProof="1"/>
              </a:p>
              <a:p>
                <a:pPr>
                  <a:lnSpc>
                    <a:spcPct val="190000"/>
                  </a:lnSpc>
                </a:pPr>
                <a:r>
                  <a:rPr lang="en-US" sz="1400" noProof="1">
                    <a:solidFill>
                      <a:srgbClr val="1E2421"/>
                    </a:solidFill>
                    <a:latin typeface="MiSans"/>
                    <a:ea typeface="MiSans"/>
                  </a:rPr>
                  <a:t>泰勒展开 · 洛必达法则</a:t>
                </a:r>
                <a:endParaRPr lang="en-US" sz="1400" noProof="1"/>
              </a:p>
            </p:txBody>
          </p:sp>
        </mc:Fallback>
      </mc:AlternateContent>
      <p:sp>
        <p:nvSpPr>
          <p:cNvPr id="27" name="c6"/>
          <p:cNvSpPr/>
          <p:nvPr/>
        </p:nvSpPr>
        <p:spPr>
          <a:xfrm>
            <a:off x="10566400" y="4521200"/>
            <a:ext cx="4876800" cy="259080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8" name="c6-head"/>
          <p:cNvSpPr txBox="1"/>
          <p:nvPr/>
        </p:nvSpPr>
        <p:spPr>
          <a:xfrm>
            <a:off x="10820400" y="4699000"/>
            <a:ext cx="4368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动态组合机制</a:t>
            </a:r>
            <a:r>
              <a:rPr lang="en-US" sz="1000" noProof="1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　公式引擎核心</a:t>
            </a:r>
            <a:endParaRPr lang="en-US" sz="1600" noProof="1"/>
          </a:p>
        </p:txBody>
      </p:sp>
      <p:sp>
        <p:nvSpPr>
          <p:cNvPr id="29" name="c6-rule"/>
          <p:cNvSpPr/>
          <p:nvPr/>
        </p:nvSpPr>
        <p:spPr>
          <a:xfrm>
            <a:off x="10820400" y="5080000"/>
            <a:ext cx="508000" cy="381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30" name="c6-f"/>
          <p:cNvSpPr txBox="1"/>
          <p:nvPr/>
        </p:nvSpPr>
        <p:spPr>
          <a:xfrm>
            <a:off x="10820400" y="5257800"/>
            <a:ext cx="4368800" cy="172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F7F5EF"/>
                </a:solidFill>
                <a:latin typeface="MiSans"/>
                <a:ea typeface="MiSans"/>
              </a:rPr>
              <a:t>公式积木化</a:t>
            </a:r>
            <a:r>
              <a:rPr lang="en-US" sz="1150" noProof="1">
                <a:solidFill>
                  <a:srgbClr val="F7F5EF"/>
                </a:solidFill>
                <a:latin typeface="MiSans"/>
                <a:ea typeface="MiSans"/>
              </a:rPr>
              <a:t>：每条公式是独立可复用单元</a:t>
            </a:r>
            <a:endParaRPr lang="en-US" sz="1150" noProof="1"/>
          </a:p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F7F5EF"/>
                </a:solidFill>
                <a:latin typeface="MiSans"/>
                <a:ea typeface="MiSans"/>
              </a:rPr>
              <a:t>参数绑定</a:t>
            </a:r>
            <a:r>
              <a:rPr lang="en-US" sz="1150" noProof="1">
                <a:solidFill>
                  <a:srgbClr val="F7F5EF"/>
                </a:solidFill>
                <a:latin typeface="MiSans"/>
                <a:ea typeface="MiSans"/>
              </a:rPr>
              <a:t>：键盘输入 / 滑块调节变量值</a:t>
            </a:r>
            <a:endParaRPr lang="en-US" sz="1150" noProof="1"/>
          </a:p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F7F5EF"/>
                </a:solidFill>
                <a:latin typeface="MiSans"/>
                <a:ea typeface="MiSans"/>
              </a:rPr>
              <a:t>级联调用</a:t>
            </a:r>
            <a:r>
              <a:rPr lang="en-US" sz="1150" noProof="1">
                <a:solidFill>
                  <a:srgbClr val="F7F5EF"/>
                </a:solidFill>
                <a:latin typeface="MiSans"/>
                <a:ea typeface="MiSans"/>
              </a:rPr>
              <a:t>：一条公式的输出作为下一条的输入</a:t>
            </a:r>
            <a:endParaRPr lang="en-US" sz="1150" noProof="1"/>
          </a:p>
          <a:p>
            <a:pPr>
              <a:lnSpc>
                <a:spcPct val="180000"/>
              </a:lnSpc>
            </a:pPr>
            <a:r>
              <a:rPr lang="en-US" sz="1150" noProof="1" b="1">
                <a:solidFill>
                  <a:srgbClr val="F7F5EF"/>
                </a:solidFill>
                <a:latin typeface="MiSans"/>
                <a:ea typeface="MiSans"/>
              </a:rPr>
              <a:t>自定义入库</a:t>
            </a:r>
            <a:r>
              <a:rPr lang="en-US" sz="1150" noProof="1">
                <a:solidFill>
                  <a:srgbClr val="F7F5EF"/>
                </a:solidFill>
                <a:latin typeface="MiSans"/>
                <a:ea typeface="MiSans"/>
              </a:rPr>
              <a:t>：组合结果可保存为私人公式</a:t>
            </a:r>
            <a:endParaRPr lang="en-US" sz="1150" noProof="1"/>
          </a:p>
        </p:txBody>
      </p:sp>
      <p:sp>
        <p:nvSpPr>
          <p:cNvPr id="31" name="schema-band"/>
          <p:cNvSpPr/>
          <p:nvPr/>
        </p:nvSpPr>
        <p:spPr>
          <a:xfrm>
            <a:off x="812800" y="7416800"/>
            <a:ext cx="14630400" cy="7874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32" name="schema-label"/>
          <p:cNvSpPr txBox="1"/>
          <p:nvPr/>
        </p:nvSpPr>
        <p:spPr>
          <a:xfrm>
            <a:off x="1117600" y="7416800"/>
            <a:ext cx="2159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公式数据结构</a:t>
            </a:r>
            <a:endParaRPr lang="en-US" sz="1300" noProof="1"/>
          </a:p>
        </p:txBody>
      </p:sp>
      <p:sp>
        <p:nvSpPr>
          <p:cNvPr id="33" name="schema-t"/>
          <p:cNvSpPr txBox="1"/>
          <p:nvPr/>
        </p:nvSpPr>
        <p:spPr>
          <a:xfrm>
            <a:off x="3403600" y="7416800"/>
            <a:ext cx="1181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每条公式 = id · 名称 · LaTeX 表达式 · 参数表｛符号 / 单位 / 定义域 / 默认值｝· 分类标签 · 依赖关系 —— 存于 SQLite，支持在线增量更新</a:t>
            </a:r>
            <a:endParaRPr lang="en-US" sz="1100" noProof="1"/>
          </a:p>
        </p:txBody>
      </p:sp>
      <p:sp>
        <p:nvSpPr>
          <p:cNvPr id="34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35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规模为首发建议值，后续按使用数据滚动扩充；五类合计约 320 条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label"/>
          <p:cNvSpPr txBox="1"/>
          <p:nvPr/>
        </p:nvSpPr>
        <p:spPr>
          <a:xfrm>
            <a:off x="812800" y="355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度量衡 MEASUREKIT · 产品与技术设计方案</a:t>
            </a:r>
            <a:endParaRPr lang="en-US" sz="1100" noProof="1"/>
          </a:p>
        </p:txBody>
      </p:sp>
      <p:sp>
        <p:nvSpPr>
          <p:cNvPr id="3" name="hdr-page"/>
          <p:cNvSpPr txBox="1"/>
          <p:nvPr/>
        </p:nvSpPr>
        <p:spPr>
          <a:xfrm>
            <a:off x="14173200" y="355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 spc="100" kern="0">
                <a:solidFill>
                  <a:srgbClr val="6E736C"/>
                </a:solidFill>
                <a:latin typeface="MiSans"/>
                <a:ea typeface="MiSans"/>
              </a:rPr>
              <a:t>07 / 07</a:t>
            </a:r>
            <a:endParaRPr lang="en-US" sz="1100" noProof="1"/>
          </a:p>
        </p:txBody>
      </p:sp>
      <p:sp>
        <p:nvSpPr>
          <p:cNvPr id="4" name="title-bar"/>
          <p:cNvSpPr/>
          <p:nvPr/>
        </p:nvSpPr>
        <p:spPr>
          <a:xfrm>
            <a:off x="812800" y="711200"/>
            <a:ext cx="101600" cy="431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092200" y="685800"/>
            <a:ext cx="1219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E2421"/>
                </a:solidFill>
                <a:latin typeface="得意黑"/>
                <a:ea typeface="得意黑"/>
              </a:rPr>
              <a:t>输入校准机制与实施路线</a:t>
            </a:r>
            <a:endParaRPr lang="en-US" sz="3000" noProof="1"/>
          </a:p>
        </p:txBody>
      </p:sp>
      <p:sp>
        <p:nvSpPr>
          <p:cNvPr id="6" name="title-rule"/>
          <p:cNvSpPr/>
          <p:nvPr/>
        </p:nvSpPr>
        <p:spPr>
          <a:xfrm>
            <a:off x="812800" y="13462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7" name="chk-title"/>
          <p:cNvSpPr txBox="1"/>
          <p:nvPr/>
        </p:nvSpPr>
        <p:spPr>
          <a:xfrm>
            <a:off x="812800" y="16002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手动输入的六道校准</a:t>
            </a:r>
            <a:endParaRPr lang="en-US" sz="1300" noProof="1"/>
          </a:p>
        </p:txBody>
      </p:sp>
      <p:graphicFrame>
        <p:nvGraphicFramePr>
          <p:cNvPr id="8" name="chk-table"/>
          <p:cNvGraphicFramePr>
            <a:graphicFrameLocks noGrp="1"/>
          </p:cNvGraphicFramePr>
          <p:nvPr/>
        </p:nvGraphicFramePr>
        <p:xfrm>
          <a:off x="812800" y="1930400"/>
          <a:ext cx="6096000" cy="3810000"/>
        </p:xfrm>
        <a:graphic>
          <a:graphicData uri="http://schemas.openxmlformats.org/drawingml/2006/table">
            <a:tbl>
              <a:tblPr/>
              <a:tblGrid>
                <a:gridCol w="1706880"/>
                <a:gridCol w="4389120"/>
              </a:tblGrid>
              <a:tr h="495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校验环节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0E5A4A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字符合法性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白名单：仅允许字母、数字、汉字与公式符号，拦截无意义字符串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语义匹配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与公式库比对，输入接近已知公式时给出智能补全建议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语法校验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AST 解析，错误定位到字符并实时标注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定义域校验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√x、ln x、除零、反三角函数自动检查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单位 / 量纲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参数携带单位，混合运算自动换算或告警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数值安全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2421"/>
                          </a:solidFill>
                          <a:latin typeface="Times New Roman"/>
                          <a:ea typeface="Times New Roman"/>
                        </a:rPr>
                        <a:t>溢出检测，可选任意精度计算模式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8D3C6"/>
                      </a:solidFill>
                    </a:lnL>
                    <a:lnR w="12700">
                      <a:solidFill>
                        <a:srgbClr val="D8D3C6"/>
                      </a:solidFill>
                    </a:lnR>
                    <a:lnT w="12700">
                      <a:solidFill>
                        <a:srgbClr val="D8D3C6"/>
                      </a:solidFill>
                    </a:lnT>
                    <a:lnB w="12700">
                      <a:solidFill>
                        <a:srgbClr val="D8D3C6"/>
                      </a:solidFill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9" name="chk-note"/>
          <p:cNvSpPr txBox="1"/>
          <p:nvPr/>
        </p:nvSpPr>
        <p:spPr>
          <a:xfrm>
            <a:off x="812800" y="5969000"/>
            <a:ext cx="609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6E736C"/>
                </a:solidFill>
                <a:latin typeface="MiSans"/>
                <a:ea typeface="MiSans"/>
              </a:rPr>
              <a:t>校准在输入过程中实时进行：字符合法性为硬白名单（不在白名单内的字符直接拒绝键入）；其余校验不阻断输入，以红色下划线与气泡标注问题位置，提交计算前统一拦截。</a:t>
            </a:r>
            <a:endParaRPr lang="en-US" sz="1100" noProof="1"/>
          </a:p>
        </p:txBody>
      </p:sp>
      <p:sp>
        <p:nvSpPr>
          <p:cNvPr id="10" name="road-title"/>
          <p:cNvSpPr txBox="1"/>
          <p:nvPr/>
        </p:nvSpPr>
        <p:spPr>
          <a:xfrm>
            <a:off x="7620000" y="1600200"/>
            <a:ext cx="782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4A"/>
                </a:solidFill>
                <a:latin typeface="MiSans"/>
                <a:ea typeface="MiSans"/>
              </a:rPr>
              <a:t>实施路线（约 9 个月，内容建设与引擎开发并行）</a:t>
            </a:r>
            <a:endParaRPr lang="en-US" sz="1300" noProof="1"/>
          </a:p>
        </p:txBody>
      </p:sp>
      <p:sp>
        <p:nvSpPr>
          <p:cNvPr id="11" name="m1-badge"/>
          <p:cNvSpPr/>
          <p:nvPr/>
        </p:nvSpPr>
        <p:spPr>
          <a:xfrm>
            <a:off x="7620000" y="1930400"/>
            <a:ext cx="812800" cy="1066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12" name="m1-badge-t"/>
          <p:cNvSpPr txBox="1"/>
          <p:nvPr/>
        </p:nvSpPr>
        <p:spPr>
          <a:xfrm>
            <a:off x="7620000" y="1930400"/>
            <a:ext cx="812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得意黑"/>
                <a:ea typeface="得意黑"/>
              </a:rPr>
              <a:t>M1</a:t>
            </a:r>
            <a:endParaRPr lang="en-US" sz="2000" noProof="1"/>
          </a:p>
        </p:txBody>
      </p:sp>
      <p:sp>
        <p:nvSpPr>
          <p:cNvPr id="13" name="m1-box"/>
          <p:cNvSpPr/>
          <p:nvPr/>
        </p:nvSpPr>
        <p:spPr>
          <a:xfrm>
            <a:off x="8432800" y="1930400"/>
            <a:ext cx="701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4" name="m1-t"/>
          <p:cNvSpPr txBox="1"/>
          <p:nvPr/>
        </p:nvSpPr>
        <p:spPr>
          <a:xfrm>
            <a:off x="8686800" y="2082800"/>
            <a:ext cx="6553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第 1–2 月 · 计算内核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表达式解析器、基础算术与初等函数；Python / SymPy 生成对照测试用例</a:t>
            </a:r>
            <a:endParaRPr lang="en-US" sz="1600" noProof="1"/>
          </a:p>
        </p:txBody>
      </p:sp>
      <p:sp>
        <p:nvSpPr>
          <p:cNvPr id="15" name="m2-badge"/>
          <p:cNvSpPr/>
          <p:nvPr/>
        </p:nvSpPr>
        <p:spPr>
          <a:xfrm>
            <a:off x="7620000" y="3200400"/>
            <a:ext cx="812800" cy="1066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16" name="m2-badge-t"/>
          <p:cNvSpPr txBox="1"/>
          <p:nvPr/>
        </p:nvSpPr>
        <p:spPr>
          <a:xfrm>
            <a:off x="7620000" y="3200400"/>
            <a:ext cx="812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得意黑"/>
                <a:ea typeface="得意黑"/>
              </a:rPr>
              <a:t>M2</a:t>
            </a:r>
            <a:endParaRPr lang="en-US" sz="2000" noProof="1"/>
          </a:p>
        </p:txBody>
      </p:sp>
      <p:sp>
        <p:nvSpPr>
          <p:cNvPr id="17" name="m2-box"/>
          <p:cNvSpPr/>
          <p:nvPr/>
        </p:nvSpPr>
        <p:spPr>
          <a:xfrm>
            <a:off x="8432800" y="3200400"/>
            <a:ext cx="701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18" name="m2-t"/>
          <p:cNvSpPr txBox="1"/>
          <p:nvPr/>
        </p:nvSpPr>
        <p:spPr>
          <a:xfrm>
            <a:off x="8686800" y="3352800"/>
            <a:ext cx="6553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第 3–4 月 · 符号与代数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符号微分、线性代数全量能力；公式库 v1（五类各 50+ 条）与参数化引擎</a:t>
            </a:r>
            <a:endParaRPr lang="en-US" sz="1600" noProof="1"/>
          </a:p>
        </p:txBody>
      </p:sp>
      <p:sp>
        <p:nvSpPr>
          <p:cNvPr id="19" name="m3-badge"/>
          <p:cNvSpPr/>
          <p:nvPr/>
        </p:nvSpPr>
        <p:spPr>
          <a:xfrm>
            <a:off x="7620000" y="4470400"/>
            <a:ext cx="812800" cy="1066800"/>
          </a:xfrm>
          <a:prstGeom prst="rect">
            <a:avLst/>
          </a:prstGeom>
          <a:solidFill>
            <a:srgbClr val="0E5A4A"/>
          </a:solidFill>
          <a:ln>
            <a:noFill/>
          </a:ln>
        </p:spPr>
      </p:sp>
      <p:sp>
        <p:nvSpPr>
          <p:cNvPr id="20" name="m3-badge-t"/>
          <p:cNvSpPr txBox="1"/>
          <p:nvPr/>
        </p:nvSpPr>
        <p:spPr>
          <a:xfrm>
            <a:off x="7620000" y="4470400"/>
            <a:ext cx="812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得意黑"/>
                <a:ea typeface="得意黑"/>
              </a:rPr>
              <a:t>M3</a:t>
            </a:r>
            <a:endParaRPr lang="en-US" sz="2000" noProof="1"/>
          </a:p>
        </p:txBody>
      </p:sp>
      <p:sp>
        <p:nvSpPr>
          <p:cNvPr id="21" name="m3-box"/>
          <p:cNvSpPr/>
          <p:nvPr/>
        </p:nvSpPr>
        <p:spPr>
          <a:xfrm>
            <a:off x="8432800" y="4470400"/>
            <a:ext cx="701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2" name="m3-t"/>
          <p:cNvSpPr txBox="1"/>
          <p:nvPr/>
        </p:nvSpPr>
        <p:spPr>
          <a:xfrm>
            <a:off x="8686800" y="4622800"/>
            <a:ext cx="6553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第 5–7 月 · 拍照测量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参照物标定规范冻结、轻量模型集成与几何解算；实地精度验证</a:t>
            </a:r>
            <a:endParaRPr lang="en-US" sz="1600" noProof="1"/>
          </a:p>
        </p:txBody>
      </p:sp>
      <p:sp>
        <p:nvSpPr>
          <p:cNvPr id="23" name="m4-badge"/>
          <p:cNvSpPr/>
          <p:nvPr/>
        </p:nvSpPr>
        <p:spPr>
          <a:xfrm>
            <a:off x="7620000" y="5740400"/>
            <a:ext cx="812800" cy="10668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24" name="m4-badge-t"/>
          <p:cNvSpPr txBox="1"/>
          <p:nvPr/>
        </p:nvSpPr>
        <p:spPr>
          <a:xfrm>
            <a:off x="7620000" y="5740400"/>
            <a:ext cx="812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得意黑"/>
                <a:ea typeface="得意黑"/>
              </a:rPr>
              <a:t>M4</a:t>
            </a:r>
            <a:endParaRPr lang="en-US" sz="2000" noProof="1"/>
          </a:p>
        </p:txBody>
      </p:sp>
      <p:sp>
        <p:nvSpPr>
          <p:cNvPr id="25" name="m4-box"/>
          <p:cNvSpPr/>
          <p:nvPr/>
        </p:nvSpPr>
        <p:spPr>
          <a:xfrm>
            <a:off x="8432800" y="5740400"/>
            <a:ext cx="701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6"/>
            </a:solidFill>
          </a:ln>
        </p:spPr>
      </p:sp>
      <p:sp>
        <p:nvSpPr>
          <p:cNvPr id="26" name="m4-t"/>
          <p:cNvSpPr txBox="1"/>
          <p:nvPr/>
        </p:nvSpPr>
        <p:spPr>
          <a:xfrm>
            <a:off x="8686800" y="5892800"/>
            <a:ext cx="6553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E2421"/>
                </a:solidFill>
                <a:latin typeface="MiSans"/>
                <a:ea typeface="MiSans"/>
              </a:rPr>
              <a:t>第 8–9 月 · 多端与 SDK 发布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6E736C"/>
                </a:solidFill>
                <a:latin typeface="MiSans"/>
                <a:ea typeface="MiSans"/>
              </a:rPr>
              <a:t>Android / HarmonyOS / iOS 首发，macOS / Windows / Linux 随后；M1 起同步搭建 C ABI 边界与语言封装，SDK 随内核一并发布</a:t>
            </a:r>
            <a:endParaRPr lang="en-US" sz="1600" noProof="1"/>
          </a:p>
        </p:txBody>
      </p:sp>
      <p:sp>
        <p:nvSpPr>
          <p:cNvPr id="27" name="risk-band"/>
          <p:cNvSpPr/>
          <p:nvPr/>
        </p:nvSpPr>
        <p:spPr>
          <a:xfrm>
            <a:off x="812800" y="7518400"/>
            <a:ext cx="14630400" cy="685800"/>
          </a:xfrm>
          <a:prstGeom prst="rect">
            <a:avLst/>
          </a:prstGeom>
          <a:solidFill>
            <a:srgbClr val="EAE6DA"/>
          </a:solidFill>
          <a:ln>
            <a:noFill/>
          </a:ln>
        </p:spPr>
      </p:sp>
      <p:sp>
        <p:nvSpPr>
          <p:cNvPr id="28" name="risk-bar"/>
          <p:cNvSpPr/>
          <p:nvPr/>
        </p:nvSpPr>
        <p:spPr>
          <a:xfrm>
            <a:off x="812800" y="7518400"/>
            <a:ext cx="63500" cy="685800"/>
          </a:xfrm>
          <a:prstGeom prst="rect">
            <a:avLst/>
          </a:prstGeom>
          <a:solidFill>
            <a:srgbClr val="D97A2B"/>
          </a:solidFill>
          <a:ln>
            <a:noFill/>
          </a:ln>
        </p:spPr>
      </p:sp>
      <p:sp>
        <p:nvSpPr>
          <p:cNvPr id="29" name="risk-t"/>
          <p:cNvSpPr txBox="1"/>
          <p:nvPr/>
        </p:nvSpPr>
        <p:spPr>
          <a:xfrm>
            <a:off x="1092200" y="7518400"/>
            <a:ext cx="14097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1E2421"/>
                </a:solidFill>
                <a:latin typeface="MiSans"/>
                <a:ea typeface="MiSans"/>
              </a:rPr>
              <a:t>主要风险</a:t>
            </a:r>
            <a:r>
              <a:rPr lang="en-US" sz="1100" noProof="1">
                <a:solidFill>
                  <a:srgbClr val="1E2421"/>
                </a:solidFill>
                <a:latin typeface="MiSans"/>
                <a:ea typeface="MiSans"/>
              </a:rPr>
              <a:t>：鸿蒙 NAPI 与 C++ 内核的联调工作量集中在 M4 前完成；iOS / macOS 需预留 App Store 审核周期；拍照测量精度受光照与参照物影响，需在 M3 预留实地验证。</a:t>
            </a:r>
            <a:endParaRPr lang="en-US" sz="1100" noProof="1"/>
          </a:p>
        </p:txBody>
      </p:sp>
      <p:sp>
        <p:nvSpPr>
          <p:cNvPr id="30" name="foot-rule"/>
          <p:cNvSpPr/>
          <p:nvPr/>
        </p:nvSpPr>
        <p:spPr>
          <a:xfrm>
            <a:off x="812800" y="8559800"/>
            <a:ext cx="14630400" cy="12700"/>
          </a:xfrm>
          <a:prstGeom prst="rect">
            <a:avLst/>
          </a:prstGeom>
          <a:solidFill>
            <a:srgbClr val="D8D3C6"/>
          </a:solidFill>
          <a:ln>
            <a:noFill/>
          </a:ln>
        </p:spPr>
      </p:sp>
      <p:sp>
        <p:nvSpPr>
          <p:cNvPr id="31" name="foot-note"/>
          <p:cNvSpPr txBox="1"/>
          <p:nvPr/>
        </p:nvSpPr>
        <p:spPr>
          <a:xfrm>
            <a:off x="812800" y="8686800"/>
            <a:ext cx="1270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E736C"/>
                </a:solidFill>
                <a:latin typeface="MiSans"/>
                <a:ea typeface="MiSans"/>
              </a:rPr>
              <a:t>里程碑为建议排期，可按团队规模压缩或展开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8</Slides>
</Properties>
</file>

<file path=docProps/core.xml><?xml version="1.0" encoding="utf-8"?>
<cp:coreProperties xmlns:dc="http://purl.org/dc/elements/1.1/" xmlns:cp="http://schemas.openxmlformats.org/package/2006/metadata/core-properties">
  <dc:title>度量衡 MeasureKit · 智能科学计算器产品与技术设计方案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